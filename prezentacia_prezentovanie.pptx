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14"/>
    <p:restoredTop sz="78548"/>
  </p:normalViewPr>
  <p:slideViewPr>
    <p:cSldViewPr snapToGrid="0" snapToObjects="1">
      <p:cViewPr varScale="1">
        <p:scale>
          <a:sx n="102" d="100"/>
          <a:sy n="102" d="100"/>
        </p:scale>
        <p:origin x="216" y="17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528365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18760797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 dirty="0"/>
              <a:t>[Berčík — 30 s]</a:t>
            </a:r>
          </a:p>
          <a:p>
            <a:pPr>
              <a:defRPr/>
            </a:pPr>
            <a:r>
              <a:rPr dirty="0" err="1"/>
              <a:t>Dobrý</a:t>
            </a:r>
            <a:r>
              <a:rPr dirty="0"/>
              <a:t> deň. </a:t>
            </a:r>
            <a:r>
              <a:rPr dirty="0" err="1"/>
              <a:t>Volám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Berčík, </a:t>
            </a:r>
            <a:r>
              <a:rPr dirty="0" err="1"/>
              <a:t>sú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so </a:t>
            </a:r>
            <a:r>
              <a:rPr dirty="0" err="1"/>
              <a:t>mnou</a:t>
            </a:r>
            <a:r>
              <a:rPr dirty="0"/>
              <a:t> Hruška a </a:t>
            </a:r>
            <a:r>
              <a:rPr dirty="0" err="1"/>
              <a:t>Filák</a:t>
            </a:r>
            <a:r>
              <a:rPr dirty="0"/>
              <a:t> a </a:t>
            </a:r>
            <a:r>
              <a:rPr dirty="0" err="1"/>
              <a:t>spoločne</a:t>
            </a:r>
            <a:r>
              <a:rPr dirty="0"/>
              <a:t> </a:t>
            </a:r>
            <a:r>
              <a:rPr dirty="0" err="1"/>
              <a:t>vám</a:t>
            </a:r>
            <a:r>
              <a:rPr dirty="0"/>
              <a:t> </a:t>
            </a:r>
            <a:r>
              <a:rPr dirty="0" err="1"/>
              <a:t>dnes</a:t>
            </a:r>
            <a:r>
              <a:rPr dirty="0"/>
              <a:t> </a:t>
            </a:r>
            <a:r>
              <a:rPr dirty="0" err="1"/>
              <a:t>predstavíme</a:t>
            </a:r>
            <a:r>
              <a:rPr dirty="0"/>
              <a:t> </a:t>
            </a:r>
            <a:r>
              <a:rPr dirty="0" err="1"/>
              <a:t>výsledky</a:t>
            </a:r>
            <a:r>
              <a:rPr dirty="0"/>
              <a:t> </a:t>
            </a:r>
            <a:r>
              <a:rPr dirty="0" err="1"/>
              <a:t>nášho</a:t>
            </a:r>
            <a:r>
              <a:rPr dirty="0"/>
              <a:t> </a:t>
            </a:r>
            <a:r>
              <a:rPr dirty="0" err="1"/>
              <a:t>projektu</a:t>
            </a:r>
            <a:r>
              <a:rPr dirty="0"/>
              <a:t> z </a:t>
            </a:r>
            <a:r>
              <a:rPr dirty="0" err="1"/>
              <a:t>predmetu</a:t>
            </a:r>
            <a:r>
              <a:rPr dirty="0"/>
              <a:t> MKR. </a:t>
            </a:r>
            <a:r>
              <a:rPr dirty="0" err="1"/>
              <a:t>Zaoberali</a:t>
            </a:r>
            <a:r>
              <a:rPr dirty="0"/>
              <a:t> </a:t>
            </a:r>
            <a:r>
              <a:rPr dirty="0" err="1"/>
              <a:t>sme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odhadom</a:t>
            </a:r>
            <a:r>
              <a:rPr dirty="0"/>
              <a:t> </a:t>
            </a:r>
            <a:r>
              <a:rPr dirty="0" err="1"/>
              <a:t>slnečného</a:t>
            </a:r>
            <a:r>
              <a:rPr dirty="0"/>
              <a:t> </a:t>
            </a:r>
            <a:r>
              <a:rPr dirty="0" err="1"/>
              <a:t>žiarenia</a:t>
            </a:r>
            <a:r>
              <a:rPr dirty="0"/>
              <a:t> z </a:t>
            </a:r>
            <a:r>
              <a:rPr dirty="0" err="1"/>
              <a:t>fotografií</a:t>
            </a:r>
            <a:r>
              <a:rPr dirty="0"/>
              <a:t> </a:t>
            </a:r>
            <a:r>
              <a:rPr dirty="0" err="1"/>
              <a:t>oblohy</a:t>
            </a:r>
            <a:r>
              <a:rPr dirty="0"/>
              <a:t> </a:t>
            </a:r>
            <a:r>
              <a:rPr dirty="0" err="1"/>
              <a:t>pomocou</a:t>
            </a:r>
            <a:r>
              <a:rPr dirty="0"/>
              <a:t> </a:t>
            </a:r>
            <a:r>
              <a:rPr dirty="0" err="1"/>
              <a:t>neurónových</a:t>
            </a:r>
            <a:r>
              <a:rPr dirty="0"/>
              <a:t> </a:t>
            </a:r>
            <a:r>
              <a:rPr dirty="0" err="1"/>
              <a:t>sietí</a:t>
            </a:r>
            <a:r>
              <a:rPr dirty="0"/>
              <a:t> a </a:t>
            </a:r>
            <a:r>
              <a:rPr dirty="0" err="1"/>
              <a:t>konkrétne</a:t>
            </a:r>
            <a:r>
              <a:rPr dirty="0"/>
              <a:t> </a:t>
            </a:r>
            <a:r>
              <a:rPr dirty="0" err="1"/>
              <a:t>nás</a:t>
            </a:r>
            <a:r>
              <a:rPr dirty="0"/>
              <a:t> </a:t>
            </a:r>
            <a:r>
              <a:rPr dirty="0" err="1"/>
              <a:t>zaujímalo</a:t>
            </a:r>
            <a:r>
              <a:rPr dirty="0"/>
              <a:t>, </a:t>
            </a:r>
            <a:r>
              <a:rPr dirty="0" err="1"/>
              <a:t>či</a:t>
            </a:r>
            <a:r>
              <a:rPr dirty="0"/>
              <a:t> </a:t>
            </a:r>
            <a:r>
              <a:rPr dirty="0" err="1"/>
              <a:t>rotačné</a:t>
            </a:r>
            <a:r>
              <a:rPr dirty="0"/>
              <a:t> </a:t>
            </a:r>
            <a:r>
              <a:rPr dirty="0" err="1"/>
              <a:t>augmentácie</a:t>
            </a:r>
            <a:r>
              <a:rPr dirty="0"/>
              <a:t> — </a:t>
            </a:r>
            <a:r>
              <a:rPr dirty="0" err="1"/>
              <a:t>teda</a:t>
            </a:r>
            <a:r>
              <a:rPr dirty="0"/>
              <a:t> </a:t>
            </a:r>
            <a:r>
              <a:rPr dirty="0" err="1"/>
              <a:t>náhodné</a:t>
            </a:r>
            <a:r>
              <a:rPr dirty="0"/>
              <a:t> </a:t>
            </a:r>
            <a:r>
              <a:rPr dirty="0" err="1"/>
              <a:t>otáčanie</a:t>
            </a:r>
            <a:r>
              <a:rPr dirty="0"/>
              <a:t> </a:t>
            </a:r>
            <a:r>
              <a:rPr dirty="0" err="1"/>
              <a:t>obrázkov</a:t>
            </a:r>
            <a:r>
              <a:rPr dirty="0"/>
              <a:t> </a:t>
            </a:r>
            <a:r>
              <a:rPr dirty="0" err="1"/>
              <a:t>počas</a:t>
            </a:r>
            <a:r>
              <a:rPr dirty="0"/>
              <a:t> </a:t>
            </a:r>
            <a:r>
              <a:rPr dirty="0" err="1"/>
              <a:t>trénovania</a:t>
            </a:r>
            <a:r>
              <a:rPr dirty="0"/>
              <a:t> — </a:t>
            </a:r>
            <a:r>
              <a:rPr dirty="0" err="1"/>
              <a:t>tomu</a:t>
            </a:r>
            <a:r>
              <a:rPr dirty="0"/>
              <a:t> </a:t>
            </a:r>
            <a:r>
              <a:rPr dirty="0" err="1"/>
              <a:t>pomôžu</a:t>
            </a:r>
            <a:r>
              <a:rPr dirty="0"/>
              <a:t> </a:t>
            </a:r>
            <a:r>
              <a:rPr dirty="0" err="1"/>
              <a:t>alebo</a:t>
            </a:r>
            <a:r>
              <a:rPr dirty="0"/>
              <a:t> </a:t>
            </a:r>
            <a:r>
              <a:rPr dirty="0" err="1"/>
              <a:t>naopak</a:t>
            </a:r>
            <a:r>
              <a:rPr dirty="0"/>
              <a:t> </a:t>
            </a:r>
            <a:r>
              <a:rPr dirty="0" err="1"/>
              <a:t>uškodia</a:t>
            </a:r>
            <a:r>
              <a:rPr dirty="0"/>
              <a:t>.</a:t>
            </a:r>
          </a:p>
        </p:txBody>
      </p:sp>
      <p:sp>
        <p:nvSpPr>
          <p:cNvPr id="7093007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140556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96651444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 dirty="0"/>
              <a:t>[Berčík — 45 s]</a:t>
            </a:r>
          </a:p>
          <a:p>
            <a:pPr>
              <a:defRPr/>
            </a:pPr>
            <a:r>
              <a:rPr dirty="0" err="1"/>
              <a:t>Čo</a:t>
            </a:r>
            <a:r>
              <a:rPr dirty="0"/>
              <a:t> </a:t>
            </a:r>
            <a:r>
              <a:rPr dirty="0" err="1"/>
              <a:t>sme</a:t>
            </a:r>
            <a:r>
              <a:rPr dirty="0"/>
              <a:t> </a:t>
            </a:r>
            <a:r>
              <a:rPr dirty="0" err="1"/>
              <a:t>teda</a:t>
            </a:r>
            <a:r>
              <a:rPr dirty="0"/>
              <a:t> </a:t>
            </a:r>
            <a:r>
              <a:rPr dirty="0" err="1"/>
              <a:t>riešili</a:t>
            </a:r>
            <a:r>
              <a:rPr dirty="0"/>
              <a:t>. </a:t>
            </a:r>
            <a:r>
              <a:rPr dirty="0" err="1"/>
              <a:t>Vstupom</a:t>
            </a:r>
            <a:r>
              <a:rPr dirty="0"/>
              <a:t> </a:t>
            </a:r>
            <a:r>
              <a:rPr dirty="0" err="1"/>
              <a:t>sú</a:t>
            </a:r>
            <a:r>
              <a:rPr dirty="0"/>
              <a:t> </a:t>
            </a:r>
            <a:r>
              <a:rPr dirty="0" err="1"/>
              <a:t>fotografie</a:t>
            </a:r>
            <a:r>
              <a:rPr dirty="0"/>
              <a:t> </a:t>
            </a:r>
            <a:r>
              <a:rPr dirty="0" err="1"/>
              <a:t>oblohy</a:t>
            </a:r>
            <a:r>
              <a:rPr dirty="0"/>
              <a:t> — </a:t>
            </a:r>
            <a:r>
              <a:rPr dirty="0" err="1"/>
              <a:t>bežné</a:t>
            </a:r>
            <a:r>
              <a:rPr dirty="0"/>
              <a:t> </a:t>
            </a:r>
            <a:r>
              <a:rPr dirty="0" err="1"/>
              <a:t>farebné</a:t>
            </a:r>
            <a:r>
              <a:rPr dirty="0"/>
              <a:t> </a:t>
            </a:r>
            <a:r>
              <a:rPr dirty="0" err="1"/>
              <a:t>obrázky</a:t>
            </a:r>
            <a:r>
              <a:rPr dirty="0"/>
              <a:t> </a:t>
            </a:r>
            <a:r>
              <a:rPr dirty="0" err="1"/>
              <a:t>nasnímané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meteorologických</a:t>
            </a:r>
            <a:r>
              <a:rPr dirty="0"/>
              <a:t> </a:t>
            </a:r>
            <a:r>
              <a:rPr dirty="0" err="1"/>
              <a:t>staniciach</a:t>
            </a:r>
            <a:r>
              <a:rPr dirty="0"/>
              <a:t>. </a:t>
            </a:r>
            <a:r>
              <a:rPr dirty="0" err="1"/>
              <a:t>Výstupom</a:t>
            </a:r>
            <a:r>
              <a:rPr dirty="0"/>
              <a:t> je </a:t>
            </a:r>
            <a:r>
              <a:rPr dirty="0" err="1"/>
              <a:t>číselná</a:t>
            </a:r>
            <a:r>
              <a:rPr dirty="0"/>
              <a:t> </a:t>
            </a:r>
            <a:r>
              <a:rPr dirty="0" err="1"/>
              <a:t>hodnota</a:t>
            </a:r>
            <a:r>
              <a:rPr dirty="0"/>
              <a:t> — </a:t>
            </a:r>
            <a:r>
              <a:rPr dirty="0" err="1"/>
              <a:t>globálne</a:t>
            </a:r>
            <a:r>
              <a:rPr dirty="0"/>
              <a:t> </a:t>
            </a:r>
            <a:r>
              <a:rPr dirty="0" err="1"/>
              <a:t>horizontálne</a:t>
            </a:r>
            <a:r>
              <a:rPr dirty="0"/>
              <a:t> </a:t>
            </a:r>
            <a:r>
              <a:rPr dirty="0" err="1"/>
              <a:t>žiarenie</a:t>
            </a:r>
            <a:r>
              <a:rPr dirty="0"/>
              <a:t> v </a:t>
            </a:r>
            <a:r>
              <a:rPr dirty="0" err="1"/>
              <a:t>jednotkách</a:t>
            </a:r>
            <a:r>
              <a:rPr dirty="0"/>
              <a:t> watt </a:t>
            </a:r>
            <a:r>
              <a:rPr dirty="0" err="1"/>
              <a:t>na</a:t>
            </a:r>
            <a:r>
              <a:rPr dirty="0"/>
              <a:t> meter </a:t>
            </a:r>
            <a:r>
              <a:rPr dirty="0" err="1"/>
              <a:t>štvorcový</a:t>
            </a:r>
            <a:r>
              <a:rPr dirty="0"/>
              <a:t>, </a:t>
            </a:r>
            <a:r>
              <a:rPr dirty="0" err="1"/>
              <a:t>čiže</a:t>
            </a:r>
            <a:r>
              <a:rPr dirty="0"/>
              <a:t> </a:t>
            </a:r>
            <a:r>
              <a:rPr dirty="0" err="1"/>
              <a:t>koľko</a:t>
            </a:r>
            <a:r>
              <a:rPr dirty="0"/>
              <a:t> </a:t>
            </a:r>
            <a:r>
              <a:rPr dirty="0" err="1"/>
              <a:t>slnečnej</a:t>
            </a:r>
            <a:r>
              <a:rPr dirty="0"/>
              <a:t> </a:t>
            </a:r>
            <a:r>
              <a:rPr dirty="0" err="1"/>
              <a:t>energie</a:t>
            </a:r>
            <a:r>
              <a:rPr dirty="0"/>
              <a:t> </a:t>
            </a:r>
            <a:r>
              <a:rPr dirty="0" err="1"/>
              <a:t>dopadá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zemský</a:t>
            </a:r>
            <a:r>
              <a:rPr dirty="0"/>
              <a:t> </a:t>
            </a:r>
            <a:r>
              <a:rPr dirty="0" err="1"/>
              <a:t>povrch</a:t>
            </a:r>
            <a:r>
              <a:rPr dirty="0"/>
              <a:t> v </a:t>
            </a:r>
            <a:r>
              <a:rPr dirty="0" err="1"/>
              <a:t>danom</a:t>
            </a:r>
            <a:r>
              <a:rPr dirty="0"/>
              <a:t> </a:t>
            </a:r>
            <a:r>
              <a:rPr dirty="0" err="1"/>
              <a:t>momente</a:t>
            </a:r>
            <a:r>
              <a:rPr dirty="0"/>
              <a:t>. Toto je </a:t>
            </a:r>
            <a:r>
              <a:rPr dirty="0" err="1"/>
              <a:t>regresná</a:t>
            </a:r>
            <a:r>
              <a:rPr dirty="0"/>
              <a:t> </a:t>
            </a:r>
            <a:r>
              <a:rPr dirty="0" err="1"/>
              <a:t>úloha</a:t>
            </a:r>
            <a:r>
              <a:rPr dirty="0"/>
              <a:t>, </a:t>
            </a:r>
            <a:r>
              <a:rPr dirty="0" err="1"/>
              <a:t>nie</a:t>
            </a:r>
            <a:r>
              <a:rPr dirty="0"/>
              <a:t> </a:t>
            </a:r>
            <a:r>
              <a:rPr dirty="0" err="1"/>
              <a:t>klasifikácia</a:t>
            </a:r>
            <a:r>
              <a:rPr dirty="0"/>
              <a:t>.</a:t>
            </a:r>
          </a:p>
          <a:p>
            <a:pPr>
              <a:defRPr/>
            </a:pPr>
            <a:endParaRPr dirty="0"/>
          </a:p>
          <a:p>
            <a:pPr>
              <a:defRPr/>
            </a:pPr>
            <a:r>
              <a:rPr dirty="0" err="1"/>
              <a:t>Ústredná</a:t>
            </a:r>
            <a:r>
              <a:rPr dirty="0"/>
              <a:t> </a:t>
            </a:r>
            <a:r>
              <a:rPr dirty="0" err="1"/>
              <a:t>otázka</a:t>
            </a:r>
            <a:r>
              <a:rPr dirty="0"/>
              <a:t> bola: </a:t>
            </a:r>
            <a:r>
              <a:rPr dirty="0" err="1"/>
              <a:t>ak</a:t>
            </a:r>
            <a:r>
              <a:rPr dirty="0"/>
              <a:t> </a:t>
            </a:r>
            <a:r>
              <a:rPr dirty="0" err="1"/>
              <a:t>počas</a:t>
            </a:r>
            <a:r>
              <a:rPr dirty="0"/>
              <a:t> </a:t>
            </a:r>
            <a:r>
              <a:rPr dirty="0" err="1"/>
              <a:t>trénovania</a:t>
            </a:r>
            <a:r>
              <a:rPr dirty="0"/>
              <a:t> </a:t>
            </a:r>
            <a:r>
              <a:rPr dirty="0" err="1"/>
              <a:t>obrázky</a:t>
            </a:r>
            <a:r>
              <a:rPr dirty="0"/>
              <a:t> </a:t>
            </a:r>
            <a:r>
              <a:rPr dirty="0" err="1"/>
              <a:t>náhodne</a:t>
            </a:r>
            <a:r>
              <a:rPr dirty="0"/>
              <a:t> </a:t>
            </a:r>
            <a:r>
              <a:rPr dirty="0" err="1"/>
              <a:t>otáčame</a:t>
            </a:r>
            <a:r>
              <a:rPr dirty="0"/>
              <a:t> o 90, 180 </a:t>
            </a:r>
            <a:r>
              <a:rPr dirty="0" err="1"/>
              <a:t>alebo</a:t>
            </a:r>
            <a:r>
              <a:rPr dirty="0"/>
              <a:t> 270 </a:t>
            </a:r>
            <a:r>
              <a:rPr dirty="0" err="1"/>
              <a:t>stupňov</a:t>
            </a:r>
            <a:r>
              <a:rPr dirty="0"/>
              <a:t>, </a:t>
            </a:r>
            <a:r>
              <a:rPr dirty="0" err="1"/>
              <a:t>naučí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model </a:t>
            </a:r>
            <a:r>
              <a:rPr dirty="0" err="1"/>
              <a:t>lepšie</a:t>
            </a:r>
            <a:r>
              <a:rPr dirty="0"/>
              <a:t>? </a:t>
            </a:r>
            <a:r>
              <a:rPr dirty="0" err="1"/>
              <a:t>Okrem</a:t>
            </a:r>
            <a:r>
              <a:rPr dirty="0"/>
              <a:t> toho </a:t>
            </a:r>
            <a:r>
              <a:rPr dirty="0" err="1"/>
              <a:t>sme</a:t>
            </a:r>
            <a:r>
              <a:rPr dirty="0"/>
              <a:t> </a:t>
            </a:r>
            <a:r>
              <a:rPr dirty="0" err="1"/>
              <a:t>porovnávali</a:t>
            </a:r>
            <a:r>
              <a:rPr dirty="0"/>
              <a:t> tri </a:t>
            </a:r>
            <a:r>
              <a:rPr dirty="0" err="1"/>
              <a:t>rôzne</a:t>
            </a:r>
            <a:r>
              <a:rPr dirty="0"/>
              <a:t> </a:t>
            </a:r>
            <a:r>
              <a:rPr dirty="0" err="1"/>
              <a:t>predtrénované</a:t>
            </a:r>
            <a:r>
              <a:rPr dirty="0"/>
              <a:t> </a:t>
            </a:r>
            <a:r>
              <a:rPr dirty="0" err="1"/>
              <a:t>siete</a:t>
            </a:r>
            <a:r>
              <a:rPr dirty="0"/>
              <a:t> a tri </a:t>
            </a:r>
            <a:r>
              <a:rPr dirty="0" err="1"/>
              <a:t>rôzne</a:t>
            </a:r>
            <a:r>
              <a:rPr dirty="0"/>
              <a:t> </a:t>
            </a:r>
            <a:r>
              <a:rPr dirty="0" err="1"/>
              <a:t>veľkosti</a:t>
            </a:r>
            <a:r>
              <a:rPr dirty="0"/>
              <a:t> </a:t>
            </a:r>
            <a:r>
              <a:rPr dirty="0" err="1"/>
              <a:t>vstupu</a:t>
            </a:r>
            <a:r>
              <a:rPr dirty="0"/>
              <a:t>, aby </a:t>
            </a:r>
            <a:r>
              <a:rPr dirty="0" err="1"/>
              <a:t>sme</a:t>
            </a:r>
            <a:r>
              <a:rPr dirty="0"/>
              <a:t> </a:t>
            </a:r>
            <a:r>
              <a:rPr dirty="0" err="1"/>
              <a:t>zistili</a:t>
            </a:r>
            <a:r>
              <a:rPr dirty="0"/>
              <a:t>, </a:t>
            </a:r>
            <a:r>
              <a:rPr dirty="0" err="1"/>
              <a:t>čo</a:t>
            </a:r>
            <a:r>
              <a:rPr dirty="0"/>
              <a:t> v </a:t>
            </a:r>
            <a:r>
              <a:rPr dirty="0" err="1"/>
              <a:t>tejto</a:t>
            </a:r>
            <a:r>
              <a:rPr dirty="0"/>
              <a:t> </a:t>
            </a:r>
            <a:r>
              <a:rPr dirty="0" err="1"/>
              <a:t>úlohe</a:t>
            </a:r>
            <a:r>
              <a:rPr dirty="0"/>
              <a:t> </a:t>
            </a:r>
            <a:r>
              <a:rPr dirty="0" err="1"/>
              <a:t>funguje</a:t>
            </a:r>
            <a:r>
              <a:rPr dirty="0"/>
              <a:t> </a:t>
            </a:r>
            <a:r>
              <a:rPr dirty="0" err="1"/>
              <a:t>najlepšie</a:t>
            </a:r>
            <a:r>
              <a:rPr dirty="0"/>
              <a:t>.</a:t>
            </a:r>
          </a:p>
        </p:txBody>
      </p:sp>
      <p:sp>
        <p:nvSpPr>
          <p:cNvPr id="61585416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680691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15933892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 dirty="0"/>
              <a:t>[Berčík — 1 min]</a:t>
            </a:r>
          </a:p>
          <a:p>
            <a:pPr>
              <a:defRPr/>
            </a:pPr>
            <a:r>
              <a:rPr dirty="0"/>
              <a:t>Dataset </a:t>
            </a:r>
            <a:r>
              <a:rPr dirty="0" err="1"/>
              <a:t>pochádza</a:t>
            </a:r>
            <a:r>
              <a:rPr dirty="0"/>
              <a:t> z </a:t>
            </a:r>
            <a:r>
              <a:rPr dirty="0" err="1"/>
              <a:t>projektu</a:t>
            </a:r>
            <a:r>
              <a:rPr dirty="0"/>
              <a:t> Eye2Sky, </a:t>
            </a:r>
            <a:r>
              <a:rPr dirty="0" err="1"/>
              <a:t>ktorý</a:t>
            </a:r>
            <a:r>
              <a:rPr dirty="0"/>
              <a:t> je </a:t>
            </a:r>
            <a:r>
              <a:rPr dirty="0" err="1"/>
              <a:t>verejne</a:t>
            </a:r>
            <a:r>
              <a:rPr dirty="0"/>
              <a:t> </a:t>
            </a:r>
            <a:r>
              <a:rPr dirty="0" err="1"/>
              <a:t>dostupný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platforme</a:t>
            </a:r>
            <a:r>
              <a:rPr dirty="0"/>
              <a:t> </a:t>
            </a:r>
            <a:r>
              <a:rPr dirty="0" err="1"/>
              <a:t>Zenodo</a:t>
            </a:r>
            <a:r>
              <a:rPr dirty="0"/>
              <a:t>. </a:t>
            </a:r>
            <a:r>
              <a:rPr dirty="0" err="1"/>
              <a:t>Obsahuje</a:t>
            </a:r>
            <a:r>
              <a:rPr dirty="0"/>
              <a:t> </a:t>
            </a:r>
            <a:r>
              <a:rPr dirty="0" err="1"/>
              <a:t>fotografie</a:t>
            </a:r>
            <a:r>
              <a:rPr dirty="0"/>
              <a:t> </a:t>
            </a:r>
            <a:r>
              <a:rPr dirty="0" err="1"/>
              <a:t>oblohy</a:t>
            </a:r>
            <a:r>
              <a:rPr dirty="0"/>
              <a:t> </a:t>
            </a:r>
            <a:r>
              <a:rPr dirty="0" err="1"/>
              <a:t>nasnímané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nemeckých</a:t>
            </a:r>
            <a:r>
              <a:rPr dirty="0"/>
              <a:t> </a:t>
            </a:r>
            <a:r>
              <a:rPr dirty="0" err="1"/>
              <a:t>meteorologických</a:t>
            </a:r>
            <a:r>
              <a:rPr dirty="0"/>
              <a:t> </a:t>
            </a:r>
            <a:r>
              <a:rPr dirty="0" err="1"/>
              <a:t>staniciach</a:t>
            </a:r>
            <a:r>
              <a:rPr dirty="0"/>
              <a:t>, </a:t>
            </a:r>
            <a:r>
              <a:rPr dirty="0" err="1"/>
              <a:t>kde</a:t>
            </a:r>
            <a:r>
              <a:rPr dirty="0"/>
              <a:t> </a:t>
            </a:r>
            <a:r>
              <a:rPr dirty="0" err="1"/>
              <a:t>zároveň</a:t>
            </a:r>
            <a:r>
              <a:rPr dirty="0"/>
              <a:t> </a:t>
            </a:r>
            <a:r>
              <a:rPr dirty="0" err="1"/>
              <a:t>prebieha</a:t>
            </a:r>
            <a:r>
              <a:rPr dirty="0"/>
              <a:t> </a:t>
            </a:r>
            <a:r>
              <a:rPr dirty="0" err="1"/>
              <a:t>meranie</a:t>
            </a:r>
            <a:r>
              <a:rPr dirty="0"/>
              <a:t> </a:t>
            </a:r>
            <a:r>
              <a:rPr dirty="0" err="1"/>
              <a:t>slnečného</a:t>
            </a:r>
            <a:r>
              <a:rPr dirty="0"/>
              <a:t> </a:t>
            </a:r>
            <a:r>
              <a:rPr dirty="0" err="1"/>
              <a:t>žiarenia</a:t>
            </a:r>
            <a:r>
              <a:rPr dirty="0"/>
              <a:t> </a:t>
            </a:r>
            <a:r>
              <a:rPr dirty="0" err="1"/>
              <a:t>prístrojom</a:t>
            </a:r>
            <a:r>
              <a:rPr dirty="0"/>
              <a:t> </a:t>
            </a:r>
            <a:r>
              <a:rPr dirty="0" err="1"/>
              <a:t>zvaným</a:t>
            </a:r>
            <a:r>
              <a:rPr dirty="0"/>
              <a:t> pyranometer. </a:t>
            </a:r>
            <a:r>
              <a:rPr dirty="0" err="1"/>
              <a:t>Tento</a:t>
            </a:r>
            <a:r>
              <a:rPr dirty="0"/>
              <a:t> </a:t>
            </a:r>
            <a:r>
              <a:rPr dirty="0" err="1"/>
              <a:t>prístroj</a:t>
            </a:r>
            <a:r>
              <a:rPr dirty="0"/>
              <a:t> </a:t>
            </a:r>
            <a:r>
              <a:rPr dirty="0" err="1"/>
              <a:t>meria</a:t>
            </a:r>
            <a:r>
              <a:rPr dirty="0"/>
              <a:t> </a:t>
            </a:r>
            <a:r>
              <a:rPr dirty="0" err="1"/>
              <a:t>globálne</a:t>
            </a:r>
            <a:r>
              <a:rPr dirty="0"/>
              <a:t> </a:t>
            </a:r>
            <a:r>
              <a:rPr dirty="0" err="1"/>
              <a:t>horizontálne</a:t>
            </a:r>
            <a:r>
              <a:rPr dirty="0"/>
              <a:t> </a:t>
            </a:r>
            <a:r>
              <a:rPr dirty="0" err="1"/>
              <a:t>žiarenie</a:t>
            </a:r>
            <a:r>
              <a:rPr dirty="0"/>
              <a:t>, </a:t>
            </a:r>
            <a:r>
              <a:rPr dirty="0" err="1"/>
              <a:t>teda</a:t>
            </a:r>
            <a:r>
              <a:rPr dirty="0"/>
              <a:t> </a:t>
            </a:r>
            <a:r>
              <a:rPr dirty="0" err="1"/>
              <a:t>celkovú</a:t>
            </a:r>
            <a:r>
              <a:rPr dirty="0"/>
              <a:t> </a:t>
            </a:r>
            <a:r>
              <a:rPr dirty="0" err="1"/>
              <a:t>energiu</a:t>
            </a:r>
            <a:r>
              <a:rPr dirty="0"/>
              <a:t> </a:t>
            </a:r>
            <a:r>
              <a:rPr dirty="0" err="1"/>
              <a:t>dopadajúcu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vodorovný</a:t>
            </a:r>
            <a:r>
              <a:rPr dirty="0"/>
              <a:t> </a:t>
            </a:r>
            <a:r>
              <a:rPr dirty="0" err="1"/>
              <a:t>povrch</a:t>
            </a:r>
            <a:r>
              <a:rPr dirty="0"/>
              <a:t>.</a:t>
            </a:r>
          </a:p>
          <a:p>
            <a:pPr>
              <a:defRPr/>
            </a:pPr>
            <a:endParaRPr dirty="0"/>
          </a:p>
          <a:p>
            <a:pPr>
              <a:defRPr/>
            </a:pPr>
            <a:r>
              <a:rPr dirty="0" err="1"/>
              <a:t>Pracovali</a:t>
            </a:r>
            <a:r>
              <a:rPr dirty="0"/>
              <a:t> </a:t>
            </a:r>
            <a:r>
              <a:rPr dirty="0" err="1"/>
              <a:t>sme</a:t>
            </a:r>
            <a:r>
              <a:rPr dirty="0"/>
              <a:t> s 946 </a:t>
            </a:r>
            <a:r>
              <a:rPr dirty="0" err="1"/>
              <a:t>obrázkami</a:t>
            </a:r>
            <a:r>
              <a:rPr dirty="0"/>
              <a:t> z 28 </a:t>
            </a:r>
            <a:r>
              <a:rPr dirty="0" err="1"/>
              <a:t>staníc</a:t>
            </a:r>
            <a:r>
              <a:rPr dirty="0"/>
              <a:t>. </a:t>
            </a:r>
            <a:r>
              <a:rPr dirty="0" err="1"/>
              <a:t>Hodnoty</a:t>
            </a:r>
            <a:r>
              <a:rPr dirty="0"/>
              <a:t> </a:t>
            </a:r>
            <a:r>
              <a:rPr dirty="0" err="1"/>
              <a:t>žiarenia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pohybujú</a:t>
            </a:r>
            <a:r>
              <a:rPr dirty="0"/>
              <a:t> od </a:t>
            </a:r>
            <a:r>
              <a:rPr dirty="0" err="1"/>
              <a:t>necelého</a:t>
            </a:r>
            <a:r>
              <a:rPr dirty="0"/>
              <a:t> </a:t>
            </a:r>
            <a:r>
              <a:rPr dirty="0" err="1"/>
              <a:t>wattu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meter </a:t>
            </a:r>
            <a:r>
              <a:rPr dirty="0" err="1"/>
              <a:t>štvorcový</a:t>
            </a:r>
            <a:r>
              <a:rPr dirty="0"/>
              <a:t> </a:t>
            </a:r>
            <a:r>
              <a:rPr dirty="0" err="1"/>
              <a:t>až</a:t>
            </a:r>
            <a:r>
              <a:rPr dirty="0"/>
              <a:t> po 1119 </a:t>
            </a:r>
            <a:r>
              <a:rPr dirty="0" err="1"/>
              <a:t>wattov</a:t>
            </a:r>
            <a:r>
              <a:rPr dirty="0"/>
              <a:t> — to </a:t>
            </a:r>
            <a:r>
              <a:rPr dirty="0" err="1"/>
              <a:t>zodpovedá</a:t>
            </a:r>
            <a:r>
              <a:rPr dirty="0"/>
              <a:t> </a:t>
            </a:r>
            <a:r>
              <a:rPr dirty="0" err="1"/>
              <a:t>podmienkam</a:t>
            </a:r>
            <a:r>
              <a:rPr dirty="0"/>
              <a:t> od </a:t>
            </a:r>
            <a:r>
              <a:rPr dirty="0" err="1"/>
              <a:t>zamračeného</a:t>
            </a:r>
            <a:r>
              <a:rPr dirty="0"/>
              <a:t> </a:t>
            </a:r>
            <a:r>
              <a:rPr dirty="0" err="1"/>
              <a:t>počasia</a:t>
            </a:r>
            <a:r>
              <a:rPr dirty="0"/>
              <a:t> </a:t>
            </a:r>
            <a:r>
              <a:rPr dirty="0" err="1"/>
              <a:t>až</a:t>
            </a:r>
            <a:r>
              <a:rPr dirty="0"/>
              <a:t> po </a:t>
            </a:r>
            <a:r>
              <a:rPr dirty="0" err="1"/>
              <a:t>priame</a:t>
            </a:r>
            <a:r>
              <a:rPr dirty="0"/>
              <a:t> </a:t>
            </a:r>
            <a:r>
              <a:rPr dirty="0" err="1"/>
              <a:t>slnečné</a:t>
            </a:r>
            <a:r>
              <a:rPr dirty="0"/>
              <a:t> </a:t>
            </a:r>
            <a:r>
              <a:rPr dirty="0" err="1"/>
              <a:t>svitanie</a:t>
            </a:r>
            <a:r>
              <a:rPr dirty="0"/>
              <a:t>.</a:t>
            </a:r>
          </a:p>
          <a:p>
            <a:pPr>
              <a:defRPr/>
            </a:pPr>
            <a:endParaRPr dirty="0"/>
          </a:p>
          <a:p>
            <a:pPr>
              <a:defRPr/>
            </a:pPr>
            <a:r>
              <a:rPr dirty="0" err="1"/>
              <a:t>Počas</a:t>
            </a:r>
            <a:r>
              <a:rPr dirty="0"/>
              <a:t> </a:t>
            </a:r>
            <a:r>
              <a:rPr dirty="0" err="1"/>
              <a:t>prípravy</a:t>
            </a:r>
            <a:r>
              <a:rPr dirty="0"/>
              <a:t> </a:t>
            </a:r>
            <a:r>
              <a:rPr dirty="0" err="1"/>
              <a:t>dát</a:t>
            </a:r>
            <a:r>
              <a:rPr dirty="0"/>
              <a:t> </a:t>
            </a:r>
            <a:r>
              <a:rPr dirty="0" err="1"/>
              <a:t>sme</a:t>
            </a:r>
            <a:r>
              <a:rPr dirty="0"/>
              <a:t> </a:t>
            </a:r>
            <a:r>
              <a:rPr dirty="0" err="1"/>
              <a:t>odhalili</a:t>
            </a:r>
            <a:r>
              <a:rPr dirty="0"/>
              <a:t> </a:t>
            </a:r>
            <a:r>
              <a:rPr dirty="0" err="1"/>
              <a:t>problém</a:t>
            </a:r>
            <a:r>
              <a:rPr dirty="0"/>
              <a:t>: </a:t>
            </a:r>
            <a:r>
              <a:rPr dirty="0" err="1"/>
              <a:t>jedna</a:t>
            </a:r>
            <a:r>
              <a:rPr dirty="0"/>
              <a:t> </a:t>
            </a:r>
            <a:r>
              <a:rPr dirty="0" err="1"/>
              <a:t>stanica</a:t>
            </a:r>
            <a:r>
              <a:rPr dirty="0"/>
              <a:t> s </a:t>
            </a:r>
            <a:r>
              <a:rPr dirty="0" err="1"/>
              <a:t>označením</a:t>
            </a:r>
            <a:r>
              <a:rPr dirty="0"/>
              <a:t> OLCLO mala </a:t>
            </a:r>
            <a:r>
              <a:rPr dirty="0" err="1"/>
              <a:t>systematicky</a:t>
            </a:r>
            <a:r>
              <a:rPr dirty="0"/>
              <a:t> </a:t>
            </a:r>
            <a:r>
              <a:rPr dirty="0" err="1"/>
              <a:t>chybne</a:t>
            </a:r>
            <a:r>
              <a:rPr dirty="0"/>
              <a:t> </a:t>
            </a:r>
            <a:r>
              <a:rPr dirty="0" err="1"/>
              <a:t>priradené</a:t>
            </a:r>
            <a:r>
              <a:rPr dirty="0"/>
              <a:t> </a:t>
            </a:r>
            <a:r>
              <a:rPr dirty="0" err="1"/>
              <a:t>hodnoty</a:t>
            </a:r>
            <a:r>
              <a:rPr dirty="0"/>
              <a:t> </a:t>
            </a:r>
            <a:r>
              <a:rPr dirty="0" err="1"/>
              <a:t>žiarenia</a:t>
            </a:r>
            <a:r>
              <a:rPr dirty="0"/>
              <a:t>, </a:t>
            </a:r>
            <a:r>
              <a:rPr dirty="0" err="1"/>
              <a:t>pravdepodobne</a:t>
            </a:r>
            <a:r>
              <a:rPr dirty="0"/>
              <a:t> </a:t>
            </a:r>
            <a:r>
              <a:rPr dirty="0" err="1"/>
              <a:t>kvôli</a:t>
            </a:r>
            <a:r>
              <a:rPr dirty="0"/>
              <a:t> </a:t>
            </a:r>
            <a:r>
              <a:rPr dirty="0" err="1"/>
              <a:t>nesprávnemu</a:t>
            </a:r>
            <a:r>
              <a:rPr dirty="0"/>
              <a:t> </a:t>
            </a:r>
            <a:r>
              <a:rPr dirty="0" err="1"/>
              <a:t>párovaní</a:t>
            </a:r>
            <a:r>
              <a:rPr dirty="0"/>
              <a:t> </a:t>
            </a:r>
            <a:r>
              <a:rPr dirty="0" err="1"/>
              <a:t>časových</a:t>
            </a:r>
            <a:r>
              <a:rPr dirty="0"/>
              <a:t> </a:t>
            </a:r>
            <a:r>
              <a:rPr dirty="0" err="1"/>
              <a:t>pásiem</a:t>
            </a:r>
            <a:r>
              <a:rPr dirty="0"/>
              <a:t> </a:t>
            </a:r>
            <a:r>
              <a:rPr dirty="0" err="1"/>
              <a:t>pri</a:t>
            </a:r>
            <a:r>
              <a:rPr dirty="0"/>
              <a:t> </a:t>
            </a:r>
            <a:r>
              <a:rPr dirty="0" err="1"/>
              <a:t>spájaní</a:t>
            </a:r>
            <a:r>
              <a:rPr dirty="0"/>
              <a:t> </a:t>
            </a:r>
            <a:r>
              <a:rPr dirty="0" err="1"/>
              <a:t>fotografií</a:t>
            </a:r>
            <a:r>
              <a:rPr dirty="0"/>
              <a:t> s </a:t>
            </a:r>
            <a:r>
              <a:rPr dirty="0" err="1"/>
              <a:t>meraniami</a:t>
            </a:r>
            <a:r>
              <a:rPr dirty="0"/>
              <a:t>. Po </a:t>
            </a:r>
            <a:r>
              <a:rPr dirty="0" err="1"/>
              <a:t>porovnaní</a:t>
            </a:r>
            <a:r>
              <a:rPr dirty="0"/>
              <a:t> s </a:t>
            </a:r>
            <a:r>
              <a:rPr dirty="0" err="1"/>
              <a:t>nameranými</a:t>
            </a:r>
            <a:r>
              <a:rPr dirty="0"/>
              <a:t> </a:t>
            </a:r>
            <a:r>
              <a:rPr dirty="0" err="1"/>
              <a:t>hodnotami</a:t>
            </a:r>
            <a:r>
              <a:rPr dirty="0"/>
              <a:t> </a:t>
            </a:r>
            <a:r>
              <a:rPr dirty="0" err="1"/>
              <a:t>sme</a:t>
            </a:r>
            <a:r>
              <a:rPr dirty="0"/>
              <a:t> </a:t>
            </a:r>
            <a:r>
              <a:rPr dirty="0" err="1"/>
              <a:t>záznamy</a:t>
            </a:r>
            <a:r>
              <a:rPr dirty="0"/>
              <a:t> </a:t>
            </a:r>
            <a:r>
              <a:rPr dirty="0" err="1"/>
              <a:t>tejto</a:t>
            </a:r>
            <a:r>
              <a:rPr dirty="0"/>
              <a:t> </a:t>
            </a:r>
            <a:r>
              <a:rPr dirty="0" err="1"/>
              <a:t>stanice</a:t>
            </a:r>
            <a:r>
              <a:rPr dirty="0"/>
              <a:t> zo </a:t>
            </a:r>
            <a:r>
              <a:rPr dirty="0" err="1"/>
              <a:t>datasetu</a:t>
            </a:r>
            <a:r>
              <a:rPr dirty="0"/>
              <a:t> </a:t>
            </a:r>
            <a:r>
              <a:rPr dirty="0" err="1"/>
              <a:t>vyradili</a:t>
            </a:r>
            <a:r>
              <a:rPr dirty="0"/>
              <a:t>. </a:t>
            </a:r>
            <a:r>
              <a:rPr dirty="0" err="1"/>
              <a:t>Zvyšné</a:t>
            </a:r>
            <a:r>
              <a:rPr dirty="0"/>
              <a:t> </a:t>
            </a:r>
            <a:r>
              <a:rPr dirty="0" err="1"/>
              <a:t>dáta</a:t>
            </a:r>
            <a:r>
              <a:rPr dirty="0"/>
              <a:t> </a:t>
            </a:r>
            <a:r>
              <a:rPr dirty="0" err="1"/>
              <a:t>sme</a:t>
            </a:r>
            <a:r>
              <a:rPr dirty="0"/>
              <a:t> </a:t>
            </a:r>
            <a:r>
              <a:rPr dirty="0" err="1"/>
              <a:t>rozdelili</a:t>
            </a:r>
            <a:r>
              <a:rPr dirty="0"/>
              <a:t> v </a:t>
            </a:r>
            <a:r>
              <a:rPr dirty="0" err="1"/>
              <a:t>pomere</a:t>
            </a:r>
            <a:r>
              <a:rPr dirty="0"/>
              <a:t> 70-15-15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tréning</a:t>
            </a:r>
            <a:r>
              <a:rPr dirty="0"/>
              <a:t>, </a:t>
            </a:r>
            <a:r>
              <a:rPr dirty="0" err="1"/>
              <a:t>validáciu</a:t>
            </a:r>
            <a:r>
              <a:rPr dirty="0"/>
              <a:t> a test.</a:t>
            </a:r>
          </a:p>
        </p:txBody>
      </p:sp>
      <p:sp>
        <p:nvSpPr>
          <p:cNvPr id="145248284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770360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27702372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 dirty="0"/>
              <a:t>[Hruška — 1 min]</a:t>
            </a:r>
          </a:p>
          <a:p>
            <a:pPr>
              <a:defRPr/>
            </a:pPr>
            <a:r>
              <a:rPr dirty="0"/>
              <a:t>Ako </a:t>
            </a:r>
            <a:r>
              <a:rPr dirty="0" err="1"/>
              <a:t>základ</a:t>
            </a:r>
            <a:r>
              <a:rPr dirty="0"/>
              <a:t> </a:t>
            </a:r>
            <a:r>
              <a:rPr dirty="0" err="1"/>
              <a:t>sme</a:t>
            </a:r>
            <a:r>
              <a:rPr dirty="0"/>
              <a:t> </a:t>
            </a:r>
            <a:r>
              <a:rPr dirty="0" err="1"/>
              <a:t>použili</a:t>
            </a:r>
            <a:r>
              <a:rPr dirty="0"/>
              <a:t> tri </a:t>
            </a:r>
            <a:r>
              <a:rPr dirty="0" err="1"/>
              <a:t>predtrénované</a:t>
            </a:r>
            <a:r>
              <a:rPr dirty="0"/>
              <a:t> </a:t>
            </a:r>
            <a:r>
              <a:rPr dirty="0" err="1"/>
              <a:t>konvolučné</a:t>
            </a:r>
            <a:r>
              <a:rPr dirty="0"/>
              <a:t> </a:t>
            </a:r>
            <a:r>
              <a:rPr dirty="0" err="1"/>
              <a:t>siete</a:t>
            </a:r>
            <a:r>
              <a:rPr dirty="0"/>
              <a:t> z </a:t>
            </a:r>
            <a:r>
              <a:rPr dirty="0" err="1"/>
              <a:t>ImageNetu</a:t>
            </a:r>
            <a:r>
              <a:rPr dirty="0"/>
              <a:t>. ResNet18 je </a:t>
            </a:r>
            <a:r>
              <a:rPr dirty="0" err="1"/>
              <a:t>najväčší</a:t>
            </a:r>
            <a:r>
              <a:rPr dirty="0"/>
              <a:t> z </a:t>
            </a:r>
            <a:r>
              <a:rPr dirty="0" err="1"/>
              <a:t>trojice</a:t>
            </a:r>
            <a:r>
              <a:rPr dirty="0"/>
              <a:t> — </a:t>
            </a:r>
            <a:r>
              <a:rPr dirty="0" err="1"/>
              <a:t>má</a:t>
            </a:r>
            <a:r>
              <a:rPr dirty="0"/>
              <a:t> 11 </a:t>
            </a:r>
            <a:r>
              <a:rPr dirty="0" err="1"/>
              <a:t>miliónov</a:t>
            </a:r>
            <a:r>
              <a:rPr dirty="0"/>
              <a:t> </a:t>
            </a:r>
            <a:r>
              <a:rPr dirty="0" err="1"/>
              <a:t>parametrov</a:t>
            </a:r>
            <a:r>
              <a:rPr dirty="0"/>
              <a:t> a je </a:t>
            </a:r>
            <a:r>
              <a:rPr dirty="0" err="1"/>
              <a:t>dobre</a:t>
            </a:r>
            <a:r>
              <a:rPr dirty="0"/>
              <a:t> </a:t>
            </a:r>
            <a:r>
              <a:rPr dirty="0" err="1"/>
              <a:t>preskúmaný</a:t>
            </a:r>
            <a:r>
              <a:rPr dirty="0"/>
              <a:t>. EfficientNet-B0 je </a:t>
            </a:r>
            <a:r>
              <a:rPr dirty="0" err="1"/>
              <a:t>kompaktnejší</a:t>
            </a:r>
            <a:r>
              <a:rPr dirty="0"/>
              <a:t>, </a:t>
            </a:r>
            <a:r>
              <a:rPr dirty="0" err="1"/>
              <a:t>navrhnutý</a:t>
            </a:r>
            <a:r>
              <a:rPr dirty="0"/>
              <a:t> s </a:t>
            </a:r>
            <a:r>
              <a:rPr dirty="0" err="1"/>
              <a:t>dôrazom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efektivitu</a:t>
            </a:r>
            <a:r>
              <a:rPr dirty="0"/>
              <a:t>. A MobileNetV3-Small je </a:t>
            </a:r>
            <a:r>
              <a:rPr dirty="0" err="1"/>
              <a:t>najmenší</a:t>
            </a:r>
            <a:r>
              <a:rPr dirty="0"/>
              <a:t>, </a:t>
            </a:r>
            <a:r>
              <a:rPr dirty="0" err="1"/>
              <a:t>primárne</a:t>
            </a:r>
            <a:r>
              <a:rPr dirty="0"/>
              <a:t> </a:t>
            </a:r>
            <a:r>
              <a:rPr dirty="0" err="1"/>
              <a:t>určený</a:t>
            </a:r>
            <a:r>
              <a:rPr dirty="0"/>
              <a:t> pre </a:t>
            </a:r>
            <a:r>
              <a:rPr dirty="0" err="1"/>
              <a:t>mobilné</a:t>
            </a:r>
            <a:r>
              <a:rPr dirty="0"/>
              <a:t> </a:t>
            </a:r>
            <a:r>
              <a:rPr dirty="0" err="1"/>
              <a:t>zariadenia</a:t>
            </a:r>
            <a:r>
              <a:rPr dirty="0"/>
              <a:t>.</a:t>
            </a:r>
          </a:p>
          <a:p>
            <a:pPr>
              <a:defRPr/>
            </a:pPr>
            <a:endParaRPr dirty="0"/>
          </a:p>
          <a:p>
            <a:pPr>
              <a:defRPr/>
            </a:pPr>
            <a:r>
              <a:rPr dirty="0"/>
              <a:t>Prístup je </a:t>
            </a:r>
            <a:r>
              <a:rPr dirty="0" err="1"/>
              <a:t>klasický</a:t>
            </a:r>
            <a:r>
              <a:rPr dirty="0"/>
              <a:t> fine-tuning: </a:t>
            </a:r>
            <a:r>
              <a:rPr dirty="0" err="1"/>
              <a:t>zoberieme</a:t>
            </a:r>
            <a:r>
              <a:rPr dirty="0"/>
              <a:t> </a:t>
            </a:r>
            <a:r>
              <a:rPr dirty="0" err="1"/>
              <a:t>sieť</a:t>
            </a:r>
            <a:r>
              <a:rPr dirty="0"/>
              <a:t> </a:t>
            </a:r>
            <a:r>
              <a:rPr dirty="0" err="1"/>
              <a:t>predtrénovanú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ImageNete</a:t>
            </a:r>
            <a:r>
              <a:rPr dirty="0"/>
              <a:t>, </a:t>
            </a:r>
            <a:r>
              <a:rPr dirty="0" err="1"/>
              <a:t>odstrihneme</a:t>
            </a:r>
            <a:r>
              <a:rPr dirty="0"/>
              <a:t> </a:t>
            </a:r>
            <a:r>
              <a:rPr dirty="0" err="1"/>
              <a:t>pôvodnú</a:t>
            </a:r>
            <a:r>
              <a:rPr dirty="0"/>
              <a:t> </a:t>
            </a:r>
            <a:r>
              <a:rPr dirty="0" err="1"/>
              <a:t>klasifikačnú</a:t>
            </a:r>
            <a:r>
              <a:rPr dirty="0"/>
              <a:t> </a:t>
            </a:r>
            <a:r>
              <a:rPr dirty="0" err="1"/>
              <a:t>vrstvu</a:t>
            </a:r>
            <a:r>
              <a:rPr dirty="0"/>
              <a:t> a </a:t>
            </a:r>
            <a:r>
              <a:rPr dirty="0" err="1"/>
              <a:t>nahradíme</a:t>
            </a:r>
            <a:r>
              <a:rPr dirty="0"/>
              <a:t> </a:t>
            </a:r>
            <a:r>
              <a:rPr dirty="0" err="1"/>
              <a:t>ju</a:t>
            </a:r>
            <a:r>
              <a:rPr dirty="0"/>
              <a:t> </a:t>
            </a:r>
            <a:r>
              <a:rPr dirty="0" err="1"/>
              <a:t>jedným</a:t>
            </a:r>
            <a:r>
              <a:rPr dirty="0"/>
              <a:t> </a:t>
            </a:r>
            <a:r>
              <a:rPr dirty="0" err="1"/>
              <a:t>neurónom</a:t>
            </a:r>
            <a:r>
              <a:rPr dirty="0"/>
              <a:t>, </a:t>
            </a:r>
            <a:r>
              <a:rPr dirty="0" err="1"/>
              <a:t>ktorý</a:t>
            </a:r>
            <a:r>
              <a:rPr dirty="0"/>
              <a:t> </a:t>
            </a:r>
            <a:r>
              <a:rPr dirty="0" err="1"/>
              <a:t>dáva</a:t>
            </a:r>
            <a:r>
              <a:rPr dirty="0"/>
              <a:t> </a:t>
            </a:r>
            <a:r>
              <a:rPr dirty="0" err="1"/>
              <a:t>priamo</a:t>
            </a:r>
            <a:r>
              <a:rPr dirty="0"/>
              <a:t> </a:t>
            </a:r>
            <a:r>
              <a:rPr dirty="0" err="1"/>
              <a:t>číselnú</a:t>
            </a:r>
            <a:r>
              <a:rPr dirty="0"/>
              <a:t> </a:t>
            </a:r>
            <a:r>
              <a:rPr dirty="0" err="1"/>
              <a:t>hodnotu</a:t>
            </a:r>
            <a:r>
              <a:rPr dirty="0"/>
              <a:t> </a:t>
            </a:r>
            <a:r>
              <a:rPr dirty="0" err="1"/>
              <a:t>žiarenia</a:t>
            </a:r>
            <a:r>
              <a:rPr dirty="0"/>
              <a:t>. </a:t>
            </a:r>
            <a:r>
              <a:rPr dirty="0" err="1"/>
              <a:t>Váhy</a:t>
            </a:r>
            <a:r>
              <a:rPr dirty="0"/>
              <a:t> zo </a:t>
            </a:r>
            <a:r>
              <a:rPr dirty="0" err="1"/>
              <a:t>zvyšku</a:t>
            </a:r>
            <a:r>
              <a:rPr dirty="0"/>
              <a:t> </a:t>
            </a:r>
            <a:r>
              <a:rPr dirty="0" err="1"/>
              <a:t>siete</a:t>
            </a:r>
            <a:r>
              <a:rPr dirty="0"/>
              <a:t> </a:t>
            </a:r>
            <a:r>
              <a:rPr dirty="0" err="1"/>
              <a:t>necháme</a:t>
            </a:r>
            <a:r>
              <a:rPr dirty="0"/>
              <a:t> </a:t>
            </a:r>
            <a:r>
              <a:rPr dirty="0" err="1"/>
              <a:t>doladíme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našich</a:t>
            </a:r>
            <a:r>
              <a:rPr dirty="0"/>
              <a:t> </a:t>
            </a:r>
            <a:r>
              <a:rPr dirty="0" err="1"/>
              <a:t>dátach</a:t>
            </a:r>
            <a:r>
              <a:rPr dirty="0"/>
              <a:t>.</a:t>
            </a:r>
          </a:p>
          <a:p>
            <a:pPr>
              <a:defRPr/>
            </a:pPr>
            <a:endParaRPr dirty="0"/>
          </a:p>
          <a:p>
            <a:pPr>
              <a:defRPr/>
            </a:pPr>
            <a:r>
              <a:rPr dirty="0" err="1"/>
              <a:t>Každú</a:t>
            </a:r>
            <a:r>
              <a:rPr dirty="0"/>
              <a:t> </a:t>
            </a:r>
            <a:r>
              <a:rPr dirty="0" err="1"/>
              <a:t>kombináciu</a:t>
            </a:r>
            <a:r>
              <a:rPr dirty="0"/>
              <a:t> — model, </a:t>
            </a:r>
            <a:r>
              <a:rPr dirty="0" err="1"/>
              <a:t>veľkosť</a:t>
            </a:r>
            <a:r>
              <a:rPr dirty="0"/>
              <a:t> </a:t>
            </a:r>
            <a:r>
              <a:rPr dirty="0" err="1"/>
              <a:t>vstupu</a:t>
            </a:r>
            <a:r>
              <a:rPr dirty="0"/>
              <a:t>, learning rate a </a:t>
            </a:r>
            <a:r>
              <a:rPr dirty="0" err="1"/>
              <a:t>augmentácia</a:t>
            </a:r>
            <a:r>
              <a:rPr dirty="0"/>
              <a:t> </a:t>
            </a:r>
            <a:r>
              <a:rPr dirty="0" err="1"/>
              <a:t>áno</a:t>
            </a:r>
            <a:r>
              <a:rPr dirty="0"/>
              <a:t>/</a:t>
            </a:r>
            <a:r>
              <a:rPr dirty="0" err="1"/>
              <a:t>nie</a:t>
            </a:r>
            <a:r>
              <a:rPr dirty="0"/>
              <a:t> — </a:t>
            </a:r>
            <a:r>
              <a:rPr dirty="0" err="1"/>
              <a:t>sme</a:t>
            </a:r>
            <a:r>
              <a:rPr dirty="0"/>
              <a:t> </a:t>
            </a:r>
            <a:r>
              <a:rPr dirty="0" err="1"/>
              <a:t>spustili</a:t>
            </a:r>
            <a:r>
              <a:rPr dirty="0"/>
              <a:t> </a:t>
            </a:r>
            <a:r>
              <a:rPr dirty="0" err="1"/>
              <a:t>ako</a:t>
            </a:r>
            <a:r>
              <a:rPr dirty="0"/>
              <a:t> </a:t>
            </a:r>
            <a:r>
              <a:rPr dirty="0" err="1"/>
              <a:t>samostatný</a:t>
            </a:r>
            <a:r>
              <a:rPr dirty="0"/>
              <a:t> experiment s early </a:t>
            </a:r>
            <a:r>
              <a:rPr dirty="0" err="1"/>
              <a:t>stoppingom</a:t>
            </a:r>
            <a:r>
              <a:rPr dirty="0"/>
              <a:t>. </a:t>
            </a:r>
            <a:r>
              <a:rPr dirty="0" err="1"/>
              <a:t>Celkovo</a:t>
            </a:r>
            <a:r>
              <a:rPr dirty="0"/>
              <a:t> to bolo 216 </a:t>
            </a:r>
            <a:r>
              <a:rPr dirty="0" err="1"/>
              <a:t>behov</a:t>
            </a:r>
            <a:r>
              <a:rPr dirty="0"/>
              <a:t>, </a:t>
            </a:r>
            <a:r>
              <a:rPr dirty="0" err="1"/>
              <a:t>čo</a:t>
            </a:r>
            <a:r>
              <a:rPr dirty="0"/>
              <a:t> </a:t>
            </a:r>
            <a:r>
              <a:rPr dirty="0" err="1"/>
              <a:t>nám</a:t>
            </a:r>
            <a:r>
              <a:rPr dirty="0"/>
              <a:t> dalo </a:t>
            </a:r>
            <a:r>
              <a:rPr dirty="0" err="1"/>
              <a:t>dostatočne</a:t>
            </a:r>
            <a:r>
              <a:rPr dirty="0"/>
              <a:t> </a:t>
            </a:r>
            <a:r>
              <a:rPr dirty="0" err="1"/>
              <a:t>robustné</a:t>
            </a:r>
            <a:r>
              <a:rPr dirty="0"/>
              <a:t> </a:t>
            </a:r>
            <a:r>
              <a:rPr dirty="0" err="1"/>
              <a:t>porovnanie</a:t>
            </a:r>
            <a:r>
              <a:rPr dirty="0"/>
              <a:t> </a:t>
            </a:r>
            <a:r>
              <a:rPr dirty="0" err="1"/>
              <a:t>naprieč</a:t>
            </a:r>
            <a:r>
              <a:rPr dirty="0"/>
              <a:t> </a:t>
            </a:r>
            <a:r>
              <a:rPr dirty="0" err="1"/>
              <a:t>všetkými</a:t>
            </a:r>
            <a:r>
              <a:rPr dirty="0"/>
              <a:t> </a:t>
            </a:r>
            <a:r>
              <a:rPr dirty="0" err="1"/>
              <a:t>konfiguráciami</a:t>
            </a:r>
            <a:r>
              <a:rPr dirty="0"/>
              <a:t>.</a:t>
            </a:r>
          </a:p>
        </p:txBody>
      </p:sp>
      <p:sp>
        <p:nvSpPr>
          <p:cNvPr id="631019233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535751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93984232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 dirty="0"/>
              <a:t>[Hruška — 1,5 min]</a:t>
            </a:r>
          </a:p>
          <a:p>
            <a:pPr>
              <a:defRPr/>
            </a:pPr>
            <a:r>
              <a:rPr dirty="0"/>
              <a:t>Tu </a:t>
            </a:r>
            <a:r>
              <a:rPr dirty="0" err="1"/>
              <a:t>sú</a:t>
            </a:r>
            <a:r>
              <a:rPr dirty="0"/>
              <a:t> </a:t>
            </a:r>
            <a:r>
              <a:rPr dirty="0" err="1"/>
              <a:t>výsledky</a:t>
            </a:r>
            <a:r>
              <a:rPr dirty="0"/>
              <a:t>, </a:t>
            </a:r>
            <a:r>
              <a:rPr dirty="0" err="1"/>
              <a:t>ktoré</a:t>
            </a:r>
            <a:r>
              <a:rPr dirty="0"/>
              <a:t> </a:t>
            </a:r>
            <a:r>
              <a:rPr dirty="0" err="1"/>
              <a:t>nás</a:t>
            </a:r>
            <a:r>
              <a:rPr dirty="0"/>
              <a:t> </a:t>
            </a:r>
            <a:r>
              <a:rPr dirty="0" err="1"/>
              <a:t>spočiatku</a:t>
            </a:r>
            <a:r>
              <a:rPr dirty="0"/>
              <a:t> </a:t>
            </a:r>
            <a:r>
              <a:rPr dirty="0" err="1"/>
              <a:t>prekvapili</a:t>
            </a:r>
            <a:r>
              <a:rPr dirty="0"/>
              <a:t>. Na </a:t>
            </a:r>
            <a:r>
              <a:rPr dirty="0" err="1"/>
              <a:t>grafe</a:t>
            </a:r>
            <a:r>
              <a:rPr dirty="0"/>
              <a:t> </a:t>
            </a:r>
            <a:r>
              <a:rPr dirty="0" err="1"/>
              <a:t>vidíte</a:t>
            </a:r>
            <a:r>
              <a:rPr dirty="0"/>
              <a:t> MAE </a:t>
            </a:r>
            <a:r>
              <a:rPr dirty="0" err="1"/>
              <a:t>aj</a:t>
            </a:r>
            <a:r>
              <a:rPr dirty="0"/>
              <a:t> RMSE pre </a:t>
            </a:r>
            <a:r>
              <a:rPr dirty="0" err="1"/>
              <a:t>každý</a:t>
            </a:r>
            <a:r>
              <a:rPr dirty="0"/>
              <a:t> model — </a:t>
            </a:r>
            <a:r>
              <a:rPr dirty="0" err="1"/>
              <a:t>modré</a:t>
            </a:r>
            <a:r>
              <a:rPr dirty="0"/>
              <a:t> </a:t>
            </a:r>
            <a:r>
              <a:rPr dirty="0" err="1"/>
              <a:t>stĺpce</a:t>
            </a:r>
            <a:r>
              <a:rPr dirty="0"/>
              <a:t> </a:t>
            </a:r>
            <a:r>
              <a:rPr dirty="0" err="1"/>
              <a:t>sú</a:t>
            </a:r>
            <a:r>
              <a:rPr dirty="0"/>
              <a:t> bez </a:t>
            </a:r>
            <a:r>
              <a:rPr dirty="0" err="1"/>
              <a:t>augmentácie</a:t>
            </a:r>
            <a:r>
              <a:rPr dirty="0"/>
              <a:t>, </a:t>
            </a:r>
            <a:r>
              <a:rPr dirty="0" err="1"/>
              <a:t>zelené</a:t>
            </a:r>
            <a:r>
              <a:rPr dirty="0"/>
              <a:t> </a:t>
            </a:r>
            <a:r>
              <a:rPr dirty="0" err="1"/>
              <a:t>sú</a:t>
            </a:r>
            <a:r>
              <a:rPr dirty="0"/>
              <a:t> s </a:t>
            </a:r>
            <a:r>
              <a:rPr dirty="0" err="1"/>
              <a:t>augmentáciou</a:t>
            </a:r>
            <a:r>
              <a:rPr dirty="0"/>
              <a:t>. A v </a:t>
            </a:r>
            <a:r>
              <a:rPr dirty="0" err="1"/>
              <a:t>každom</a:t>
            </a:r>
            <a:r>
              <a:rPr dirty="0"/>
              <a:t> </a:t>
            </a:r>
            <a:r>
              <a:rPr dirty="0" err="1"/>
              <a:t>prípade</a:t>
            </a:r>
            <a:r>
              <a:rPr dirty="0"/>
              <a:t> </a:t>
            </a:r>
            <a:r>
              <a:rPr dirty="0" err="1"/>
              <a:t>sú</a:t>
            </a:r>
            <a:r>
              <a:rPr dirty="0"/>
              <a:t> </a:t>
            </a:r>
            <a:r>
              <a:rPr dirty="0" err="1"/>
              <a:t>zelené</a:t>
            </a:r>
            <a:r>
              <a:rPr dirty="0"/>
              <a:t> </a:t>
            </a:r>
            <a:r>
              <a:rPr dirty="0" err="1"/>
              <a:t>stĺpce</a:t>
            </a:r>
            <a:r>
              <a:rPr dirty="0"/>
              <a:t> </a:t>
            </a:r>
            <a:r>
              <a:rPr dirty="0" err="1"/>
              <a:t>vyššie</a:t>
            </a:r>
            <a:r>
              <a:rPr dirty="0"/>
              <a:t>. </a:t>
            </a:r>
            <a:r>
              <a:rPr dirty="0" err="1"/>
              <a:t>Augmentácia</a:t>
            </a:r>
            <a:r>
              <a:rPr dirty="0"/>
              <a:t> </a:t>
            </a:r>
            <a:r>
              <a:rPr dirty="0" err="1"/>
              <a:t>teda</a:t>
            </a:r>
            <a:r>
              <a:rPr dirty="0"/>
              <a:t> </a:t>
            </a:r>
            <a:r>
              <a:rPr dirty="0" err="1"/>
              <a:t>nepomohla</a:t>
            </a:r>
            <a:r>
              <a:rPr dirty="0"/>
              <a:t>, </a:t>
            </a:r>
            <a:r>
              <a:rPr dirty="0" err="1"/>
              <a:t>naopak</a:t>
            </a:r>
            <a:r>
              <a:rPr dirty="0"/>
              <a:t> — </a:t>
            </a:r>
            <a:r>
              <a:rPr dirty="0" err="1"/>
              <a:t>vo</a:t>
            </a:r>
            <a:r>
              <a:rPr dirty="0"/>
              <a:t> </a:t>
            </a:r>
            <a:r>
              <a:rPr dirty="0" err="1"/>
              <a:t>všetkých</a:t>
            </a:r>
            <a:r>
              <a:rPr dirty="0"/>
              <a:t> troch </a:t>
            </a:r>
            <a:r>
              <a:rPr dirty="0" err="1"/>
              <a:t>sieťach</a:t>
            </a:r>
            <a:r>
              <a:rPr dirty="0"/>
              <a:t> </a:t>
            </a:r>
            <a:r>
              <a:rPr dirty="0" err="1"/>
              <a:t>mierne</a:t>
            </a:r>
            <a:r>
              <a:rPr dirty="0"/>
              <a:t> </a:t>
            </a:r>
            <a:r>
              <a:rPr dirty="0" err="1"/>
              <a:t>zhoršila</a:t>
            </a:r>
            <a:r>
              <a:rPr dirty="0"/>
              <a:t> </a:t>
            </a:r>
            <a:r>
              <a:rPr dirty="0" err="1"/>
              <a:t>výsledky</a:t>
            </a:r>
            <a:r>
              <a:rPr dirty="0"/>
              <a:t>.</a:t>
            </a:r>
          </a:p>
          <a:p>
            <a:pPr>
              <a:defRPr/>
            </a:pPr>
            <a:endParaRPr dirty="0"/>
          </a:p>
          <a:p>
            <a:pPr>
              <a:defRPr/>
            </a:pPr>
            <a:r>
              <a:rPr dirty="0" err="1"/>
              <a:t>Najvýraznejší</a:t>
            </a:r>
            <a:r>
              <a:rPr dirty="0"/>
              <a:t> </a:t>
            </a:r>
            <a:r>
              <a:rPr dirty="0" err="1"/>
              <a:t>rozdiel</a:t>
            </a:r>
            <a:r>
              <a:rPr dirty="0"/>
              <a:t> </a:t>
            </a:r>
            <a:r>
              <a:rPr dirty="0" err="1"/>
              <a:t>bol</a:t>
            </a:r>
            <a:r>
              <a:rPr dirty="0"/>
              <a:t> </a:t>
            </a:r>
            <a:r>
              <a:rPr dirty="0" err="1"/>
              <a:t>pri</a:t>
            </a:r>
            <a:r>
              <a:rPr dirty="0"/>
              <a:t> ResNet18, </a:t>
            </a:r>
            <a:r>
              <a:rPr dirty="0" err="1"/>
              <a:t>kde</a:t>
            </a:r>
            <a:r>
              <a:rPr dirty="0"/>
              <a:t> </a:t>
            </a:r>
            <a:r>
              <a:rPr dirty="0" err="1"/>
              <a:t>augmentácia</a:t>
            </a:r>
            <a:r>
              <a:rPr dirty="0"/>
              <a:t> </a:t>
            </a:r>
            <a:r>
              <a:rPr dirty="0" err="1"/>
              <a:t>pridala</a:t>
            </a:r>
            <a:r>
              <a:rPr dirty="0"/>
              <a:t> </a:t>
            </a:r>
            <a:r>
              <a:rPr dirty="0" err="1"/>
              <a:t>takmer</a:t>
            </a:r>
            <a:r>
              <a:rPr dirty="0"/>
              <a:t> 20 </a:t>
            </a:r>
            <a:r>
              <a:rPr dirty="0" err="1"/>
              <a:t>wattov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strednej</a:t>
            </a:r>
            <a:r>
              <a:rPr dirty="0"/>
              <a:t> </a:t>
            </a:r>
            <a:r>
              <a:rPr dirty="0" err="1"/>
              <a:t>absolútnej</a:t>
            </a:r>
            <a:r>
              <a:rPr dirty="0"/>
              <a:t> </a:t>
            </a:r>
            <a:r>
              <a:rPr dirty="0" err="1"/>
              <a:t>chybe</a:t>
            </a:r>
            <a:r>
              <a:rPr dirty="0"/>
              <a:t>. </a:t>
            </a:r>
            <a:r>
              <a:rPr dirty="0" err="1"/>
              <a:t>Prečo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to </a:t>
            </a:r>
            <a:r>
              <a:rPr dirty="0" err="1"/>
              <a:t>stalo</a:t>
            </a:r>
            <a:r>
              <a:rPr dirty="0"/>
              <a:t>?</a:t>
            </a:r>
          </a:p>
          <a:p>
            <a:pPr>
              <a:defRPr/>
            </a:pPr>
            <a:endParaRPr dirty="0"/>
          </a:p>
          <a:p>
            <a:pPr>
              <a:defRPr/>
            </a:pPr>
            <a:r>
              <a:rPr dirty="0" err="1"/>
              <a:t>Dôvod</a:t>
            </a:r>
            <a:r>
              <a:rPr dirty="0"/>
              <a:t> je v </a:t>
            </a:r>
            <a:r>
              <a:rPr dirty="0" err="1"/>
              <a:t>podstate</a:t>
            </a:r>
            <a:r>
              <a:rPr dirty="0"/>
              <a:t> </a:t>
            </a:r>
            <a:r>
              <a:rPr dirty="0" err="1"/>
              <a:t>fyzikálny</a:t>
            </a:r>
            <a:r>
              <a:rPr dirty="0"/>
              <a:t>. </a:t>
            </a:r>
            <a:r>
              <a:rPr dirty="0" err="1"/>
              <a:t>Fotky</a:t>
            </a:r>
            <a:r>
              <a:rPr dirty="0"/>
              <a:t> </a:t>
            </a:r>
            <a:r>
              <a:rPr dirty="0" err="1"/>
              <a:t>oblohy</a:t>
            </a:r>
            <a:r>
              <a:rPr dirty="0"/>
              <a:t> </a:t>
            </a:r>
            <a:r>
              <a:rPr dirty="0" err="1"/>
              <a:t>majú</a:t>
            </a:r>
            <a:r>
              <a:rPr dirty="0"/>
              <a:t> </a:t>
            </a:r>
            <a:r>
              <a:rPr dirty="0" err="1"/>
              <a:t>pevnú</a:t>
            </a:r>
            <a:r>
              <a:rPr dirty="0"/>
              <a:t> </a:t>
            </a:r>
            <a:r>
              <a:rPr dirty="0" err="1"/>
              <a:t>orientáciu</a:t>
            </a:r>
            <a:r>
              <a:rPr dirty="0"/>
              <a:t> — </a:t>
            </a:r>
            <a:r>
              <a:rPr dirty="0" err="1"/>
              <a:t>horizont</a:t>
            </a:r>
            <a:r>
              <a:rPr dirty="0"/>
              <a:t> je </a:t>
            </a:r>
            <a:r>
              <a:rPr dirty="0" err="1"/>
              <a:t>vždy</a:t>
            </a:r>
            <a:r>
              <a:rPr dirty="0"/>
              <a:t> dole, </a:t>
            </a:r>
            <a:r>
              <a:rPr dirty="0" err="1"/>
              <a:t>slnko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nachádza</a:t>
            </a:r>
            <a:r>
              <a:rPr dirty="0"/>
              <a:t> v </a:t>
            </a:r>
            <a:r>
              <a:rPr dirty="0" err="1"/>
              <a:t>hornej</a:t>
            </a:r>
            <a:r>
              <a:rPr dirty="0"/>
              <a:t> </a:t>
            </a:r>
            <a:r>
              <a:rPr dirty="0" err="1"/>
              <a:t>časti</a:t>
            </a:r>
            <a:r>
              <a:rPr dirty="0"/>
              <a:t> </a:t>
            </a:r>
            <a:r>
              <a:rPr dirty="0" err="1"/>
              <a:t>snímky</a:t>
            </a:r>
            <a:r>
              <a:rPr dirty="0"/>
              <a:t>. Tieto </a:t>
            </a:r>
            <a:r>
              <a:rPr dirty="0" err="1"/>
              <a:t>priestorové</a:t>
            </a:r>
            <a:r>
              <a:rPr dirty="0"/>
              <a:t> </a:t>
            </a:r>
            <a:r>
              <a:rPr dirty="0" err="1"/>
              <a:t>vzťahy</a:t>
            </a:r>
            <a:r>
              <a:rPr dirty="0"/>
              <a:t> </a:t>
            </a:r>
            <a:r>
              <a:rPr dirty="0" err="1"/>
              <a:t>nesú</a:t>
            </a:r>
            <a:r>
              <a:rPr dirty="0"/>
              <a:t> pre model </a:t>
            </a:r>
            <a:r>
              <a:rPr dirty="0" err="1"/>
              <a:t>dôležitú</a:t>
            </a:r>
            <a:r>
              <a:rPr dirty="0"/>
              <a:t> </a:t>
            </a:r>
            <a:r>
              <a:rPr dirty="0" err="1"/>
              <a:t>informáciu</a:t>
            </a:r>
            <a:r>
              <a:rPr dirty="0"/>
              <a:t>: </a:t>
            </a:r>
            <a:r>
              <a:rPr dirty="0" err="1"/>
              <a:t>kde</a:t>
            </a:r>
            <a:r>
              <a:rPr dirty="0"/>
              <a:t> je </a:t>
            </a:r>
            <a:r>
              <a:rPr dirty="0" err="1"/>
              <a:t>slnko</a:t>
            </a:r>
            <a:r>
              <a:rPr dirty="0"/>
              <a:t>, </a:t>
            </a:r>
            <a:r>
              <a:rPr dirty="0" err="1"/>
              <a:t>aká</a:t>
            </a:r>
            <a:r>
              <a:rPr dirty="0"/>
              <a:t> je </a:t>
            </a:r>
            <a:r>
              <a:rPr dirty="0" err="1"/>
              <a:t>výška</a:t>
            </a:r>
            <a:r>
              <a:rPr dirty="0"/>
              <a:t> </a:t>
            </a:r>
            <a:r>
              <a:rPr dirty="0" err="1"/>
              <a:t>oblakov</a:t>
            </a:r>
            <a:r>
              <a:rPr dirty="0"/>
              <a:t>, </a:t>
            </a:r>
            <a:r>
              <a:rPr dirty="0" err="1"/>
              <a:t>aký</a:t>
            </a:r>
            <a:r>
              <a:rPr dirty="0"/>
              <a:t> je </a:t>
            </a:r>
            <a:r>
              <a:rPr dirty="0" err="1"/>
              <a:t>uhol</a:t>
            </a:r>
            <a:r>
              <a:rPr dirty="0"/>
              <a:t> </a:t>
            </a:r>
            <a:r>
              <a:rPr dirty="0" err="1"/>
              <a:t>dopadu</a:t>
            </a:r>
            <a:r>
              <a:rPr dirty="0"/>
              <a:t> </a:t>
            </a:r>
            <a:r>
              <a:rPr dirty="0" err="1"/>
              <a:t>svetla</a:t>
            </a:r>
            <a:r>
              <a:rPr dirty="0"/>
              <a:t>. </a:t>
            </a:r>
            <a:r>
              <a:rPr dirty="0" err="1"/>
              <a:t>Keď</a:t>
            </a:r>
            <a:r>
              <a:rPr dirty="0"/>
              <a:t> </a:t>
            </a:r>
            <a:r>
              <a:rPr dirty="0" err="1"/>
              <a:t>obrázok</a:t>
            </a:r>
            <a:r>
              <a:rPr dirty="0"/>
              <a:t> </a:t>
            </a:r>
            <a:r>
              <a:rPr dirty="0" err="1"/>
              <a:t>otočíme</a:t>
            </a:r>
            <a:r>
              <a:rPr dirty="0"/>
              <a:t> o 90 </a:t>
            </a:r>
            <a:r>
              <a:rPr dirty="0" err="1"/>
              <a:t>stupňov</a:t>
            </a:r>
            <a:r>
              <a:rPr dirty="0"/>
              <a:t>, </a:t>
            </a:r>
            <a:r>
              <a:rPr dirty="0" err="1"/>
              <a:t>horizont</a:t>
            </a:r>
            <a:r>
              <a:rPr dirty="0"/>
              <a:t> je </a:t>
            </a:r>
            <a:r>
              <a:rPr dirty="0" err="1"/>
              <a:t>zrazu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boku</a:t>
            </a:r>
            <a:r>
              <a:rPr dirty="0"/>
              <a:t> — </a:t>
            </a:r>
            <a:r>
              <a:rPr dirty="0" err="1"/>
              <a:t>čo</a:t>
            </a:r>
            <a:r>
              <a:rPr dirty="0"/>
              <a:t> je </a:t>
            </a:r>
            <a:r>
              <a:rPr dirty="0" err="1"/>
              <a:t>fyzikálne</a:t>
            </a:r>
            <a:r>
              <a:rPr dirty="0"/>
              <a:t> </a:t>
            </a:r>
            <a:r>
              <a:rPr dirty="0" err="1"/>
              <a:t>nezmyselné</a:t>
            </a:r>
            <a:r>
              <a:rPr dirty="0"/>
              <a:t>. Model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musí</a:t>
            </a:r>
            <a:r>
              <a:rPr dirty="0"/>
              <a:t> </a:t>
            </a:r>
            <a:r>
              <a:rPr dirty="0" err="1"/>
              <a:t>naučiť</a:t>
            </a:r>
            <a:r>
              <a:rPr dirty="0"/>
              <a:t> </a:t>
            </a:r>
            <a:r>
              <a:rPr dirty="0" err="1"/>
              <a:t>ignorovať</a:t>
            </a:r>
            <a:r>
              <a:rPr dirty="0"/>
              <a:t> </a:t>
            </a:r>
            <a:r>
              <a:rPr dirty="0" err="1"/>
              <a:t>orientáciu</a:t>
            </a:r>
            <a:r>
              <a:rPr dirty="0"/>
              <a:t>, </a:t>
            </a:r>
            <a:r>
              <a:rPr dirty="0" err="1"/>
              <a:t>čo</a:t>
            </a:r>
            <a:r>
              <a:rPr dirty="0"/>
              <a:t> mu v </a:t>
            </a:r>
            <a:r>
              <a:rPr dirty="0" err="1"/>
              <a:t>skutočnosti</a:t>
            </a:r>
            <a:r>
              <a:rPr dirty="0"/>
              <a:t> </a:t>
            </a:r>
            <a:r>
              <a:rPr dirty="0" err="1"/>
              <a:t>bráni</a:t>
            </a:r>
            <a:r>
              <a:rPr dirty="0"/>
              <a:t> </a:t>
            </a:r>
            <a:r>
              <a:rPr dirty="0" err="1"/>
              <a:t>využiť</a:t>
            </a:r>
            <a:r>
              <a:rPr dirty="0"/>
              <a:t> </a:t>
            </a:r>
            <a:r>
              <a:rPr dirty="0" err="1"/>
              <a:t>práve</a:t>
            </a:r>
            <a:r>
              <a:rPr dirty="0"/>
              <a:t> </a:t>
            </a:r>
            <a:r>
              <a:rPr dirty="0" err="1"/>
              <a:t>tú</a:t>
            </a:r>
            <a:r>
              <a:rPr dirty="0"/>
              <a:t> </a:t>
            </a:r>
            <a:r>
              <a:rPr dirty="0" err="1"/>
              <a:t>informáciu</a:t>
            </a:r>
            <a:r>
              <a:rPr dirty="0"/>
              <a:t>, </a:t>
            </a:r>
            <a:r>
              <a:rPr dirty="0" err="1"/>
              <a:t>ktorá</a:t>
            </a:r>
            <a:r>
              <a:rPr dirty="0"/>
              <a:t> je pre </a:t>
            </a:r>
            <a:r>
              <a:rPr dirty="0" err="1"/>
              <a:t>odhad</a:t>
            </a:r>
            <a:r>
              <a:rPr dirty="0"/>
              <a:t> </a:t>
            </a:r>
            <a:r>
              <a:rPr dirty="0" err="1"/>
              <a:t>žiarenia</a:t>
            </a:r>
            <a:r>
              <a:rPr dirty="0"/>
              <a:t> </a:t>
            </a:r>
            <a:r>
              <a:rPr dirty="0" err="1"/>
              <a:t>kľúčová</a:t>
            </a:r>
            <a:r>
              <a:rPr dirty="0"/>
              <a:t>.</a:t>
            </a:r>
          </a:p>
          <a:p>
            <a:pPr>
              <a:defRPr/>
            </a:pPr>
            <a:endParaRPr dirty="0"/>
          </a:p>
          <a:p>
            <a:pPr>
              <a:defRPr/>
            </a:pPr>
            <a:r>
              <a:rPr dirty="0" err="1"/>
              <a:t>Porovnajte</a:t>
            </a:r>
            <a:r>
              <a:rPr dirty="0"/>
              <a:t> to </a:t>
            </a:r>
            <a:r>
              <a:rPr dirty="0" err="1"/>
              <a:t>napríklad</a:t>
            </a:r>
            <a:r>
              <a:rPr dirty="0"/>
              <a:t> s </a:t>
            </a:r>
            <a:r>
              <a:rPr dirty="0" err="1"/>
              <a:t>histologickými</a:t>
            </a:r>
            <a:r>
              <a:rPr dirty="0"/>
              <a:t> </a:t>
            </a:r>
            <a:r>
              <a:rPr dirty="0" err="1"/>
              <a:t>snímkami</a:t>
            </a:r>
            <a:r>
              <a:rPr dirty="0"/>
              <a:t> </a:t>
            </a:r>
            <a:r>
              <a:rPr dirty="0" err="1"/>
              <a:t>tkanív</a:t>
            </a:r>
            <a:r>
              <a:rPr dirty="0"/>
              <a:t>, </a:t>
            </a:r>
            <a:r>
              <a:rPr dirty="0" err="1"/>
              <a:t>kde</a:t>
            </a:r>
            <a:r>
              <a:rPr dirty="0"/>
              <a:t> </a:t>
            </a:r>
            <a:r>
              <a:rPr dirty="0" err="1"/>
              <a:t>orientácia</a:t>
            </a:r>
            <a:r>
              <a:rPr dirty="0"/>
              <a:t> </a:t>
            </a:r>
            <a:r>
              <a:rPr dirty="0" err="1"/>
              <a:t>nemá</a:t>
            </a:r>
            <a:r>
              <a:rPr dirty="0"/>
              <a:t> </a:t>
            </a:r>
            <a:r>
              <a:rPr dirty="0" err="1"/>
              <a:t>fyzikálny</a:t>
            </a:r>
            <a:r>
              <a:rPr dirty="0"/>
              <a:t> </a:t>
            </a:r>
            <a:r>
              <a:rPr dirty="0" err="1"/>
              <a:t>význam</a:t>
            </a:r>
            <a:r>
              <a:rPr dirty="0"/>
              <a:t> — tam </a:t>
            </a:r>
            <a:r>
              <a:rPr dirty="0" err="1"/>
              <a:t>augmentácia</a:t>
            </a:r>
            <a:r>
              <a:rPr dirty="0"/>
              <a:t> </a:t>
            </a:r>
            <a:r>
              <a:rPr dirty="0" err="1"/>
              <a:t>bežne</a:t>
            </a:r>
            <a:r>
              <a:rPr dirty="0"/>
              <a:t> </a:t>
            </a:r>
            <a:r>
              <a:rPr dirty="0" err="1"/>
              <a:t>pomáha</a:t>
            </a:r>
            <a:r>
              <a:rPr dirty="0"/>
              <a:t>. Tu je to </a:t>
            </a:r>
            <a:r>
              <a:rPr dirty="0" err="1"/>
              <a:t>presne</a:t>
            </a:r>
            <a:r>
              <a:rPr dirty="0"/>
              <a:t> </a:t>
            </a:r>
            <a:r>
              <a:rPr dirty="0" err="1"/>
              <a:t>naopak</a:t>
            </a:r>
            <a:r>
              <a:rPr dirty="0"/>
              <a:t>.</a:t>
            </a:r>
          </a:p>
        </p:txBody>
      </p:sp>
      <p:sp>
        <p:nvSpPr>
          <p:cNvPr id="103742967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80156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205195900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 dirty="0"/>
              <a:t>[Hruška — 1 min]</a:t>
            </a:r>
          </a:p>
          <a:p>
            <a:pPr>
              <a:defRPr/>
            </a:pPr>
            <a:r>
              <a:rPr dirty="0"/>
              <a:t>Graf </a:t>
            </a:r>
            <a:r>
              <a:rPr dirty="0" err="1"/>
              <a:t>ukazuje</a:t>
            </a:r>
            <a:r>
              <a:rPr dirty="0"/>
              <a:t>, </a:t>
            </a:r>
            <a:r>
              <a:rPr dirty="0" err="1"/>
              <a:t>ako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mení</a:t>
            </a:r>
            <a:r>
              <a:rPr dirty="0"/>
              <a:t> MAE v </a:t>
            </a:r>
            <a:r>
              <a:rPr dirty="0" err="1"/>
              <a:t>závislosti</a:t>
            </a:r>
            <a:r>
              <a:rPr dirty="0"/>
              <a:t> od </a:t>
            </a:r>
            <a:r>
              <a:rPr dirty="0" err="1"/>
              <a:t>veľkosti</a:t>
            </a:r>
            <a:r>
              <a:rPr dirty="0"/>
              <a:t> </a:t>
            </a:r>
            <a:r>
              <a:rPr dirty="0" err="1"/>
              <a:t>vstupu</a:t>
            </a:r>
            <a:r>
              <a:rPr dirty="0"/>
              <a:t> pre </a:t>
            </a:r>
            <a:r>
              <a:rPr dirty="0" err="1"/>
              <a:t>každý</a:t>
            </a:r>
            <a:r>
              <a:rPr dirty="0"/>
              <a:t> model — </a:t>
            </a:r>
            <a:r>
              <a:rPr dirty="0" err="1"/>
              <a:t>ľavý</a:t>
            </a:r>
            <a:r>
              <a:rPr dirty="0"/>
              <a:t> panel je bez </a:t>
            </a:r>
            <a:r>
              <a:rPr dirty="0" err="1"/>
              <a:t>augmentácie</a:t>
            </a:r>
            <a:r>
              <a:rPr dirty="0"/>
              <a:t>, </a:t>
            </a:r>
            <a:r>
              <a:rPr dirty="0" err="1"/>
              <a:t>pravý</a:t>
            </a:r>
            <a:r>
              <a:rPr dirty="0"/>
              <a:t> s </a:t>
            </a:r>
            <a:r>
              <a:rPr dirty="0" err="1"/>
              <a:t>augmentáciou</a:t>
            </a:r>
            <a:r>
              <a:rPr dirty="0"/>
              <a:t>. </a:t>
            </a:r>
            <a:r>
              <a:rPr dirty="0" err="1"/>
              <a:t>Niekoľko</a:t>
            </a:r>
            <a:r>
              <a:rPr dirty="0"/>
              <a:t> </a:t>
            </a:r>
            <a:r>
              <a:rPr dirty="0" err="1"/>
              <a:t>zaujímavých</a:t>
            </a:r>
            <a:r>
              <a:rPr dirty="0"/>
              <a:t> </a:t>
            </a:r>
            <a:r>
              <a:rPr dirty="0" err="1"/>
              <a:t>pozorovaní</a:t>
            </a:r>
            <a:r>
              <a:rPr dirty="0"/>
              <a:t>.</a:t>
            </a:r>
          </a:p>
          <a:p>
            <a:pPr>
              <a:defRPr/>
            </a:pPr>
            <a:endParaRPr dirty="0"/>
          </a:p>
          <a:p>
            <a:pPr>
              <a:defRPr/>
            </a:pPr>
            <a:r>
              <a:rPr dirty="0"/>
              <a:t>Po </a:t>
            </a:r>
            <a:r>
              <a:rPr dirty="0" err="1"/>
              <a:t>prvé</a:t>
            </a:r>
            <a:r>
              <a:rPr dirty="0"/>
              <a:t> — ResNet18 </a:t>
            </a:r>
            <a:r>
              <a:rPr dirty="0" err="1"/>
              <a:t>konzistentne</a:t>
            </a:r>
            <a:r>
              <a:rPr dirty="0"/>
              <a:t> </a:t>
            </a:r>
            <a:r>
              <a:rPr dirty="0" err="1"/>
              <a:t>vyhráva</a:t>
            </a:r>
            <a:r>
              <a:rPr dirty="0"/>
              <a:t> </a:t>
            </a:r>
            <a:r>
              <a:rPr dirty="0" err="1"/>
              <a:t>napriek</a:t>
            </a:r>
            <a:r>
              <a:rPr dirty="0"/>
              <a:t> </a:t>
            </a:r>
            <a:r>
              <a:rPr dirty="0" err="1"/>
              <a:t>tomu</a:t>
            </a:r>
            <a:r>
              <a:rPr dirty="0"/>
              <a:t>, </a:t>
            </a:r>
            <a:r>
              <a:rPr dirty="0" err="1"/>
              <a:t>že</a:t>
            </a:r>
            <a:r>
              <a:rPr dirty="0"/>
              <a:t> </a:t>
            </a:r>
            <a:r>
              <a:rPr dirty="0" err="1"/>
              <a:t>má</a:t>
            </a:r>
            <a:r>
              <a:rPr dirty="0"/>
              <a:t> </a:t>
            </a:r>
            <a:r>
              <a:rPr dirty="0" err="1"/>
              <a:t>najviac</a:t>
            </a:r>
            <a:r>
              <a:rPr dirty="0"/>
              <a:t> </a:t>
            </a:r>
            <a:r>
              <a:rPr dirty="0" err="1"/>
              <a:t>parametrov</a:t>
            </a:r>
            <a:r>
              <a:rPr dirty="0"/>
              <a:t>. Pri </a:t>
            </a:r>
            <a:r>
              <a:rPr dirty="0" err="1"/>
              <a:t>takom</a:t>
            </a:r>
            <a:r>
              <a:rPr dirty="0"/>
              <a:t> </a:t>
            </a:r>
            <a:r>
              <a:rPr dirty="0" err="1"/>
              <a:t>malom</a:t>
            </a:r>
            <a:r>
              <a:rPr dirty="0"/>
              <a:t> </a:t>
            </a:r>
            <a:r>
              <a:rPr dirty="0" err="1"/>
              <a:t>datasete</a:t>
            </a:r>
            <a:r>
              <a:rPr dirty="0"/>
              <a:t> by </a:t>
            </a:r>
            <a:r>
              <a:rPr dirty="0" err="1"/>
              <a:t>sme</a:t>
            </a:r>
            <a:r>
              <a:rPr dirty="0"/>
              <a:t> </a:t>
            </a:r>
            <a:r>
              <a:rPr dirty="0" err="1"/>
              <a:t>čakali</a:t>
            </a:r>
            <a:r>
              <a:rPr dirty="0"/>
              <a:t>, </a:t>
            </a:r>
            <a:r>
              <a:rPr dirty="0" err="1"/>
              <a:t>že</a:t>
            </a:r>
            <a:r>
              <a:rPr dirty="0"/>
              <a:t> </a:t>
            </a:r>
            <a:r>
              <a:rPr dirty="0" err="1"/>
              <a:t>menšia</a:t>
            </a:r>
            <a:r>
              <a:rPr dirty="0"/>
              <a:t> </a:t>
            </a:r>
            <a:r>
              <a:rPr dirty="0" err="1"/>
              <a:t>sieť</a:t>
            </a:r>
            <a:r>
              <a:rPr dirty="0"/>
              <a:t> </a:t>
            </a:r>
            <a:r>
              <a:rPr dirty="0" err="1"/>
              <a:t>bude</a:t>
            </a:r>
            <a:r>
              <a:rPr dirty="0"/>
              <a:t> </a:t>
            </a:r>
            <a:r>
              <a:rPr dirty="0" err="1"/>
              <a:t>lepšia</a:t>
            </a:r>
            <a:r>
              <a:rPr dirty="0"/>
              <a:t>, ale </a:t>
            </a:r>
            <a:r>
              <a:rPr dirty="0" err="1"/>
              <a:t>tu</a:t>
            </a:r>
            <a:r>
              <a:rPr dirty="0"/>
              <a:t> to </a:t>
            </a:r>
            <a:r>
              <a:rPr dirty="0" err="1"/>
              <a:t>tak</a:t>
            </a:r>
            <a:r>
              <a:rPr dirty="0"/>
              <a:t> </a:t>
            </a:r>
            <a:r>
              <a:rPr dirty="0" err="1"/>
              <a:t>nie</a:t>
            </a:r>
            <a:r>
              <a:rPr dirty="0"/>
              <a:t> je — </a:t>
            </a:r>
            <a:r>
              <a:rPr dirty="0" err="1"/>
              <a:t>ResNet</a:t>
            </a:r>
            <a:r>
              <a:rPr dirty="0"/>
              <a:t> je </a:t>
            </a:r>
            <a:r>
              <a:rPr dirty="0" err="1"/>
              <a:t>pravdepodobne</a:t>
            </a:r>
            <a:r>
              <a:rPr dirty="0"/>
              <a:t> </a:t>
            </a:r>
            <a:r>
              <a:rPr dirty="0" err="1"/>
              <a:t>lepšie</a:t>
            </a:r>
            <a:r>
              <a:rPr dirty="0"/>
              <a:t> </a:t>
            </a:r>
            <a:r>
              <a:rPr dirty="0" err="1"/>
              <a:t>zarovnaný</a:t>
            </a:r>
            <a:r>
              <a:rPr dirty="0"/>
              <a:t> s </a:t>
            </a:r>
            <a:r>
              <a:rPr dirty="0" err="1"/>
              <a:t>typom</a:t>
            </a:r>
            <a:r>
              <a:rPr dirty="0"/>
              <a:t> </a:t>
            </a:r>
            <a:r>
              <a:rPr dirty="0" err="1"/>
              <a:t>vizuálnych</a:t>
            </a:r>
            <a:r>
              <a:rPr dirty="0"/>
              <a:t> </a:t>
            </a:r>
            <a:r>
              <a:rPr dirty="0" err="1"/>
              <a:t>vzorov</a:t>
            </a:r>
            <a:r>
              <a:rPr dirty="0"/>
              <a:t> v </a:t>
            </a:r>
            <a:r>
              <a:rPr dirty="0" err="1"/>
              <a:t>oblohe</a:t>
            </a:r>
            <a:r>
              <a:rPr dirty="0"/>
              <a:t> </a:t>
            </a:r>
            <a:r>
              <a:rPr dirty="0" err="1"/>
              <a:t>vďaka</a:t>
            </a:r>
            <a:r>
              <a:rPr dirty="0"/>
              <a:t> </a:t>
            </a:r>
            <a:r>
              <a:rPr dirty="0" err="1"/>
              <a:t>svojej</a:t>
            </a:r>
            <a:r>
              <a:rPr dirty="0"/>
              <a:t> </a:t>
            </a:r>
            <a:r>
              <a:rPr dirty="0" err="1"/>
              <a:t>architektonicke</a:t>
            </a:r>
            <a:r>
              <a:rPr dirty="0"/>
              <a:t>.</a:t>
            </a:r>
          </a:p>
          <a:p>
            <a:pPr>
              <a:defRPr/>
            </a:pPr>
            <a:endParaRPr dirty="0"/>
          </a:p>
          <a:p>
            <a:pPr>
              <a:defRPr/>
            </a:pPr>
            <a:r>
              <a:rPr dirty="0"/>
              <a:t>Po </a:t>
            </a:r>
            <a:r>
              <a:rPr dirty="0" err="1"/>
              <a:t>druhé</a:t>
            </a:r>
            <a:r>
              <a:rPr dirty="0"/>
              <a:t> — </a:t>
            </a:r>
            <a:r>
              <a:rPr dirty="0" err="1"/>
              <a:t>najlepšia</a:t>
            </a:r>
            <a:r>
              <a:rPr dirty="0"/>
              <a:t> </a:t>
            </a:r>
            <a:r>
              <a:rPr dirty="0" err="1"/>
              <a:t>veľkosť</a:t>
            </a:r>
            <a:r>
              <a:rPr dirty="0"/>
              <a:t> </a:t>
            </a:r>
            <a:r>
              <a:rPr dirty="0" err="1"/>
              <a:t>vstupu</a:t>
            </a:r>
            <a:r>
              <a:rPr dirty="0"/>
              <a:t> bola 128 </a:t>
            </a:r>
            <a:r>
              <a:rPr dirty="0" err="1"/>
              <a:t>pixelov</a:t>
            </a:r>
            <a:r>
              <a:rPr dirty="0"/>
              <a:t>, </a:t>
            </a:r>
            <a:r>
              <a:rPr dirty="0" err="1"/>
              <a:t>nie</a:t>
            </a:r>
            <a:r>
              <a:rPr dirty="0"/>
              <a:t> 224 ani 320. </a:t>
            </a:r>
            <a:r>
              <a:rPr dirty="0" err="1"/>
              <a:t>Väčší</a:t>
            </a:r>
            <a:r>
              <a:rPr dirty="0"/>
              <a:t> </a:t>
            </a:r>
            <a:r>
              <a:rPr dirty="0" err="1"/>
              <a:t>vstup</a:t>
            </a:r>
            <a:r>
              <a:rPr dirty="0"/>
              <a:t> </a:t>
            </a:r>
            <a:r>
              <a:rPr dirty="0" err="1"/>
              <a:t>nepomohol</a:t>
            </a:r>
            <a:r>
              <a:rPr dirty="0"/>
              <a:t>. </a:t>
            </a:r>
            <a:r>
              <a:rPr dirty="0" err="1"/>
              <a:t>Dôvod</a:t>
            </a:r>
            <a:r>
              <a:rPr dirty="0"/>
              <a:t> je </a:t>
            </a:r>
            <a:r>
              <a:rPr dirty="0" err="1"/>
              <a:t>zrejme</a:t>
            </a:r>
            <a:r>
              <a:rPr dirty="0"/>
              <a:t> v tom, </a:t>
            </a:r>
            <a:r>
              <a:rPr dirty="0" err="1"/>
              <a:t>že</a:t>
            </a:r>
            <a:r>
              <a:rPr dirty="0"/>
              <a:t> s </a:t>
            </a:r>
            <a:r>
              <a:rPr dirty="0" err="1"/>
              <a:t>iba</a:t>
            </a:r>
            <a:r>
              <a:rPr dirty="0"/>
              <a:t> 946 </a:t>
            </a:r>
            <a:r>
              <a:rPr dirty="0" err="1"/>
              <a:t>obrázkami</a:t>
            </a:r>
            <a:r>
              <a:rPr dirty="0"/>
              <a:t> je </a:t>
            </a:r>
            <a:r>
              <a:rPr dirty="0" err="1"/>
              <a:t>vyšší</a:t>
            </a:r>
            <a:r>
              <a:rPr dirty="0"/>
              <a:t> </a:t>
            </a:r>
            <a:r>
              <a:rPr dirty="0" err="1"/>
              <a:t>vstup</a:t>
            </a:r>
            <a:r>
              <a:rPr dirty="0"/>
              <a:t> </a:t>
            </a:r>
            <a:r>
              <a:rPr dirty="0" err="1"/>
              <a:t>skôr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škodu</a:t>
            </a:r>
            <a:r>
              <a:rPr dirty="0"/>
              <a:t> — </a:t>
            </a:r>
            <a:r>
              <a:rPr dirty="0" err="1"/>
              <a:t>zvyšuje</a:t>
            </a:r>
            <a:r>
              <a:rPr dirty="0"/>
              <a:t> </a:t>
            </a:r>
            <a:r>
              <a:rPr dirty="0" err="1"/>
              <a:t>komplexitu</a:t>
            </a:r>
            <a:r>
              <a:rPr dirty="0"/>
              <a:t> </a:t>
            </a:r>
            <a:r>
              <a:rPr dirty="0" err="1"/>
              <a:t>modelu</a:t>
            </a:r>
            <a:r>
              <a:rPr dirty="0"/>
              <a:t> bez toho, aby </a:t>
            </a:r>
            <a:r>
              <a:rPr dirty="0" err="1"/>
              <a:t>priniesol</a:t>
            </a:r>
            <a:r>
              <a:rPr dirty="0"/>
              <a:t> </a:t>
            </a:r>
            <a:r>
              <a:rPr dirty="0" err="1"/>
              <a:t>dostatok</a:t>
            </a:r>
            <a:r>
              <a:rPr dirty="0"/>
              <a:t> </a:t>
            </a:r>
            <a:r>
              <a:rPr dirty="0" err="1"/>
              <a:t>ďalšej</a:t>
            </a:r>
            <a:r>
              <a:rPr dirty="0"/>
              <a:t> </a:t>
            </a:r>
            <a:r>
              <a:rPr dirty="0" err="1"/>
              <a:t>informácie</a:t>
            </a:r>
            <a:r>
              <a:rPr dirty="0"/>
              <a:t>. </a:t>
            </a:r>
            <a:r>
              <a:rPr dirty="0" err="1"/>
              <a:t>Najlepšia</a:t>
            </a:r>
            <a:r>
              <a:rPr dirty="0"/>
              <a:t> </a:t>
            </a:r>
            <a:r>
              <a:rPr dirty="0" err="1"/>
              <a:t>celková</a:t>
            </a:r>
            <a:r>
              <a:rPr dirty="0"/>
              <a:t> </a:t>
            </a:r>
            <a:r>
              <a:rPr dirty="0" err="1"/>
              <a:t>konfigurácia</a:t>
            </a:r>
            <a:r>
              <a:rPr dirty="0"/>
              <a:t> bola ResNet18 so </a:t>
            </a:r>
            <a:r>
              <a:rPr dirty="0" err="1"/>
              <a:t>vstupom</a:t>
            </a:r>
            <a:r>
              <a:rPr dirty="0"/>
              <a:t> 128 </a:t>
            </a:r>
            <a:r>
              <a:rPr dirty="0" err="1"/>
              <a:t>pixelov</a:t>
            </a:r>
            <a:r>
              <a:rPr dirty="0"/>
              <a:t>, learning rate 0,001 a bez </a:t>
            </a:r>
            <a:r>
              <a:rPr dirty="0" err="1"/>
              <a:t>augmentácie</a:t>
            </a:r>
            <a:r>
              <a:rPr dirty="0"/>
              <a:t> — s MAE 124,93 </a:t>
            </a:r>
            <a:r>
              <a:rPr dirty="0" err="1"/>
              <a:t>wattov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meter </a:t>
            </a:r>
            <a:r>
              <a:rPr dirty="0" err="1"/>
              <a:t>štvorcový</a:t>
            </a:r>
            <a:r>
              <a:rPr dirty="0"/>
              <a:t>.</a:t>
            </a:r>
          </a:p>
        </p:txBody>
      </p:sp>
      <p:sp>
        <p:nvSpPr>
          <p:cNvPr id="139253552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275793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56367068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 dirty="0"/>
              <a:t>[</a:t>
            </a:r>
            <a:r>
              <a:rPr dirty="0" err="1"/>
              <a:t>Filák</a:t>
            </a:r>
            <a:r>
              <a:rPr dirty="0"/>
              <a:t> — 1 min]</a:t>
            </a:r>
          </a:p>
          <a:p>
            <a:pPr>
              <a:defRPr/>
            </a:pPr>
            <a:r>
              <a:rPr dirty="0" err="1"/>
              <a:t>Pozrime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výpočtovú</a:t>
            </a:r>
            <a:r>
              <a:rPr dirty="0"/>
              <a:t> </a:t>
            </a:r>
            <a:r>
              <a:rPr dirty="0" err="1"/>
              <a:t>stránku</a:t>
            </a:r>
            <a:r>
              <a:rPr dirty="0"/>
              <a:t>. </a:t>
            </a:r>
            <a:r>
              <a:rPr dirty="0" err="1"/>
              <a:t>Ľavý</a:t>
            </a:r>
            <a:r>
              <a:rPr dirty="0"/>
              <a:t> </a:t>
            </a:r>
            <a:r>
              <a:rPr dirty="0" err="1"/>
              <a:t>graf</a:t>
            </a:r>
            <a:r>
              <a:rPr dirty="0"/>
              <a:t> </a:t>
            </a:r>
            <a:r>
              <a:rPr dirty="0" err="1"/>
              <a:t>ukazuje</a:t>
            </a:r>
            <a:r>
              <a:rPr dirty="0"/>
              <a:t> </a:t>
            </a:r>
            <a:r>
              <a:rPr dirty="0" err="1"/>
              <a:t>počet</a:t>
            </a:r>
            <a:r>
              <a:rPr dirty="0"/>
              <a:t> </a:t>
            </a:r>
            <a:r>
              <a:rPr dirty="0" err="1"/>
              <a:t>parametrov</a:t>
            </a:r>
            <a:r>
              <a:rPr dirty="0"/>
              <a:t> </a:t>
            </a:r>
            <a:r>
              <a:rPr dirty="0" err="1"/>
              <a:t>jednotlivých</a:t>
            </a:r>
            <a:r>
              <a:rPr dirty="0"/>
              <a:t> </a:t>
            </a:r>
            <a:r>
              <a:rPr dirty="0" err="1"/>
              <a:t>sietí</a:t>
            </a:r>
            <a:r>
              <a:rPr dirty="0"/>
              <a:t> — ResNet18 </a:t>
            </a:r>
            <a:r>
              <a:rPr dirty="0" err="1"/>
              <a:t>má</a:t>
            </a:r>
            <a:r>
              <a:rPr dirty="0"/>
              <a:t> 11,2 </a:t>
            </a:r>
            <a:r>
              <a:rPr dirty="0" err="1"/>
              <a:t>milióna</a:t>
            </a:r>
            <a:r>
              <a:rPr dirty="0"/>
              <a:t>, </a:t>
            </a:r>
            <a:r>
              <a:rPr dirty="0" err="1"/>
              <a:t>EfficientNet</a:t>
            </a:r>
            <a:r>
              <a:rPr dirty="0"/>
              <a:t> 4 </a:t>
            </a:r>
            <a:r>
              <a:rPr dirty="0" err="1"/>
              <a:t>milióny</a:t>
            </a:r>
            <a:r>
              <a:rPr dirty="0"/>
              <a:t> a </a:t>
            </a:r>
            <a:r>
              <a:rPr dirty="0" err="1"/>
              <a:t>MobileNet</a:t>
            </a:r>
            <a:r>
              <a:rPr dirty="0"/>
              <a:t> </a:t>
            </a:r>
            <a:r>
              <a:rPr dirty="0" err="1"/>
              <a:t>len</a:t>
            </a:r>
            <a:r>
              <a:rPr dirty="0"/>
              <a:t> 1,5 </a:t>
            </a:r>
            <a:r>
              <a:rPr dirty="0" err="1"/>
              <a:t>milióna</a:t>
            </a:r>
            <a:r>
              <a:rPr dirty="0"/>
              <a:t>. </a:t>
            </a:r>
            <a:r>
              <a:rPr dirty="0" err="1"/>
              <a:t>Menší</a:t>
            </a:r>
            <a:r>
              <a:rPr dirty="0"/>
              <a:t> </a:t>
            </a:r>
            <a:r>
              <a:rPr dirty="0" err="1"/>
              <a:t>počet</a:t>
            </a:r>
            <a:r>
              <a:rPr dirty="0"/>
              <a:t> </a:t>
            </a:r>
            <a:r>
              <a:rPr dirty="0" err="1"/>
              <a:t>parametrov</a:t>
            </a:r>
            <a:r>
              <a:rPr dirty="0"/>
              <a:t> ale </a:t>
            </a:r>
            <a:r>
              <a:rPr dirty="0" err="1"/>
              <a:t>neznamená</a:t>
            </a:r>
            <a:r>
              <a:rPr dirty="0"/>
              <a:t> </a:t>
            </a:r>
            <a:r>
              <a:rPr dirty="0" err="1"/>
              <a:t>automaticky</a:t>
            </a:r>
            <a:r>
              <a:rPr dirty="0"/>
              <a:t> </a:t>
            </a:r>
            <a:r>
              <a:rPr dirty="0" err="1"/>
              <a:t>rýchlejší</a:t>
            </a:r>
            <a:r>
              <a:rPr dirty="0"/>
              <a:t> </a:t>
            </a:r>
            <a:r>
              <a:rPr dirty="0" err="1"/>
              <a:t>tréning</a:t>
            </a:r>
            <a:r>
              <a:rPr dirty="0"/>
              <a:t>.</a:t>
            </a:r>
          </a:p>
          <a:p>
            <a:pPr>
              <a:defRPr/>
            </a:pPr>
            <a:endParaRPr dirty="0"/>
          </a:p>
          <a:p>
            <a:pPr>
              <a:defRPr/>
            </a:pPr>
            <a:r>
              <a:rPr dirty="0" err="1"/>
              <a:t>Pravý</a:t>
            </a:r>
            <a:r>
              <a:rPr dirty="0"/>
              <a:t> </a:t>
            </a:r>
            <a:r>
              <a:rPr dirty="0" err="1"/>
              <a:t>graf</a:t>
            </a:r>
            <a:r>
              <a:rPr dirty="0"/>
              <a:t> </a:t>
            </a:r>
            <a:r>
              <a:rPr dirty="0" err="1"/>
              <a:t>ukazuje</a:t>
            </a:r>
            <a:r>
              <a:rPr dirty="0"/>
              <a:t> </a:t>
            </a:r>
            <a:r>
              <a:rPr dirty="0" err="1"/>
              <a:t>celkové</a:t>
            </a:r>
            <a:r>
              <a:rPr dirty="0"/>
              <a:t> </a:t>
            </a:r>
            <a:r>
              <a:rPr dirty="0" err="1"/>
              <a:t>časy</a:t>
            </a:r>
            <a:r>
              <a:rPr dirty="0"/>
              <a:t> </a:t>
            </a:r>
            <a:r>
              <a:rPr dirty="0" err="1"/>
              <a:t>trénovaní</a:t>
            </a:r>
            <a:r>
              <a:rPr dirty="0"/>
              <a:t>. </a:t>
            </a:r>
            <a:r>
              <a:rPr dirty="0" err="1"/>
              <a:t>Najrýchlejší</a:t>
            </a:r>
            <a:r>
              <a:rPr dirty="0"/>
              <a:t> </a:t>
            </a:r>
            <a:r>
              <a:rPr dirty="0" err="1"/>
              <a:t>bol</a:t>
            </a:r>
            <a:r>
              <a:rPr dirty="0"/>
              <a:t> </a:t>
            </a:r>
            <a:r>
              <a:rPr dirty="0" err="1"/>
              <a:t>MobileNet</a:t>
            </a:r>
            <a:r>
              <a:rPr dirty="0"/>
              <a:t> — </a:t>
            </a:r>
            <a:r>
              <a:rPr dirty="0" err="1"/>
              <a:t>jeden</a:t>
            </a:r>
            <a:r>
              <a:rPr dirty="0"/>
              <a:t> experiment </a:t>
            </a:r>
            <a:r>
              <a:rPr dirty="0" err="1"/>
              <a:t>trval</a:t>
            </a:r>
            <a:r>
              <a:rPr dirty="0"/>
              <a:t> </a:t>
            </a:r>
            <a:r>
              <a:rPr dirty="0" err="1"/>
              <a:t>okolo</a:t>
            </a:r>
            <a:r>
              <a:rPr dirty="0"/>
              <a:t> 30 </a:t>
            </a:r>
            <a:r>
              <a:rPr dirty="0" err="1"/>
              <a:t>sekúnd</a:t>
            </a:r>
            <a:r>
              <a:rPr dirty="0"/>
              <a:t>. ResNet18 </a:t>
            </a:r>
            <a:r>
              <a:rPr dirty="0" err="1"/>
              <a:t>bol</a:t>
            </a:r>
            <a:r>
              <a:rPr dirty="0"/>
              <a:t> </a:t>
            </a:r>
            <a:r>
              <a:rPr dirty="0" err="1"/>
              <a:t>stredný</a:t>
            </a:r>
            <a:r>
              <a:rPr dirty="0"/>
              <a:t>, </a:t>
            </a:r>
            <a:r>
              <a:rPr dirty="0" err="1"/>
              <a:t>okolo</a:t>
            </a:r>
            <a:r>
              <a:rPr dirty="0"/>
              <a:t> 48 </a:t>
            </a:r>
            <a:r>
              <a:rPr dirty="0" err="1"/>
              <a:t>sekúnd</a:t>
            </a:r>
            <a:r>
              <a:rPr dirty="0"/>
              <a:t>. A </a:t>
            </a:r>
            <a:r>
              <a:rPr dirty="0" err="1"/>
              <a:t>EfficientNet</a:t>
            </a:r>
            <a:r>
              <a:rPr dirty="0"/>
              <a:t> </a:t>
            </a:r>
            <a:r>
              <a:rPr dirty="0" err="1"/>
              <a:t>bol</a:t>
            </a:r>
            <a:r>
              <a:rPr dirty="0"/>
              <a:t> </a:t>
            </a:r>
            <a:r>
              <a:rPr dirty="0" err="1"/>
              <a:t>paradoxne</a:t>
            </a:r>
            <a:r>
              <a:rPr dirty="0"/>
              <a:t> </a:t>
            </a:r>
            <a:r>
              <a:rPr dirty="0" err="1"/>
              <a:t>najpomalší</a:t>
            </a:r>
            <a:r>
              <a:rPr dirty="0"/>
              <a:t> — </a:t>
            </a:r>
            <a:r>
              <a:rPr dirty="0" err="1"/>
              <a:t>zhruba</a:t>
            </a:r>
            <a:r>
              <a:rPr dirty="0"/>
              <a:t> 60 </a:t>
            </a:r>
            <a:r>
              <a:rPr dirty="0" err="1"/>
              <a:t>sekúnd</a:t>
            </a:r>
            <a:r>
              <a:rPr dirty="0"/>
              <a:t> — </a:t>
            </a:r>
            <a:r>
              <a:rPr dirty="0" err="1"/>
              <a:t>aj</a:t>
            </a:r>
            <a:r>
              <a:rPr dirty="0"/>
              <a:t> </a:t>
            </a:r>
            <a:r>
              <a:rPr dirty="0" err="1"/>
              <a:t>napriek</a:t>
            </a:r>
            <a:r>
              <a:rPr dirty="0"/>
              <a:t> </a:t>
            </a:r>
            <a:r>
              <a:rPr dirty="0" err="1"/>
              <a:t>tomu</a:t>
            </a:r>
            <a:r>
              <a:rPr dirty="0"/>
              <a:t>, </a:t>
            </a:r>
            <a:r>
              <a:rPr dirty="0" err="1"/>
              <a:t>že</a:t>
            </a:r>
            <a:r>
              <a:rPr dirty="0"/>
              <a:t> </a:t>
            </a:r>
            <a:r>
              <a:rPr dirty="0" err="1"/>
              <a:t>má</a:t>
            </a:r>
            <a:r>
              <a:rPr dirty="0"/>
              <a:t> </a:t>
            </a:r>
            <a:r>
              <a:rPr dirty="0" err="1"/>
              <a:t>menej</a:t>
            </a:r>
            <a:r>
              <a:rPr dirty="0"/>
              <a:t> </a:t>
            </a:r>
            <a:r>
              <a:rPr dirty="0" err="1"/>
              <a:t>parametrov</a:t>
            </a:r>
            <a:r>
              <a:rPr dirty="0"/>
              <a:t> </a:t>
            </a:r>
            <a:r>
              <a:rPr dirty="0" err="1"/>
              <a:t>než</a:t>
            </a:r>
            <a:r>
              <a:rPr dirty="0"/>
              <a:t> </a:t>
            </a:r>
            <a:r>
              <a:rPr dirty="0" err="1"/>
              <a:t>ResNet</a:t>
            </a:r>
            <a:r>
              <a:rPr dirty="0"/>
              <a:t>. Je to </a:t>
            </a:r>
            <a:r>
              <a:rPr dirty="0" err="1"/>
              <a:t>dané</a:t>
            </a:r>
            <a:r>
              <a:rPr dirty="0"/>
              <a:t> </a:t>
            </a:r>
            <a:r>
              <a:rPr dirty="0" err="1"/>
              <a:t>jeho</a:t>
            </a:r>
            <a:r>
              <a:rPr dirty="0"/>
              <a:t> </a:t>
            </a:r>
            <a:r>
              <a:rPr dirty="0" err="1"/>
              <a:t>efektívnou</a:t>
            </a:r>
            <a:r>
              <a:rPr dirty="0"/>
              <a:t>, ale </a:t>
            </a:r>
            <a:r>
              <a:rPr dirty="0" err="1"/>
              <a:t>výpočtovo</a:t>
            </a:r>
            <a:r>
              <a:rPr dirty="0"/>
              <a:t> </a:t>
            </a:r>
            <a:r>
              <a:rPr dirty="0" err="1"/>
              <a:t>náročnejšou</a:t>
            </a:r>
            <a:r>
              <a:rPr dirty="0"/>
              <a:t> </a:t>
            </a:r>
            <a:r>
              <a:rPr dirty="0" err="1"/>
              <a:t>architektúrou</a:t>
            </a:r>
            <a:r>
              <a:rPr dirty="0"/>
              <a:t>, </a:t>
            </a:r>
            <a:r>
              <a:rPr dirty="0" err="1"/>
              <a:t>ktorá</a:t>
            </a:r>
            <a:r>
              <a:rPr dirty="0"/>
              <a:t> </a:t>
            </a:r>
            <a:r>
              <a:rPr dirty="0" err="1"/>
              <a:t>používa</a:t>
            </a:r>
            <a:r>
              <a:rPr dirty="0"/>
              <a:t> </a:t>
            </a:r>
            <a:r>
              <a:rPr dirty="0" err="1"/>
              <a:t>depthwise</a:t>
            </a:r>
            <a:r>
              <a:rPr dirty="0"/>
              <a:t> separable </a:t>
            </a:r>
            <a:r>
              <a:rPr dirty="0" err="1"/>
              <a:t>konvolúcie</a:t>
            </a:r>
            <a:r>
              <a:rPr dirty="0"/>
              <a:t> a squeeze-and-excitation </a:t>
            </a:r>
            <a:r>
              <a:rPr dirty="0" err="1"/>
              <a:t>bloky</a:t>
            </a:r>
            <a:r>
              <a:rPr dirty="0"/>
              <a:t>.</a:t>
            </a:r>
          </a:p>
          <a:p>
            <a:pPr>
              <a:defRPr/>
            </a:pPr>
            <a:endParaRPr dirty="0"/>
          </a:p>
          <a:p>
            <a:pPr>
              <a:defRPr/>
            </a:pPr>
            <a:r>
              <a:rPr dirty="0" err="1"/>
              <a:t>Celkovo</a:t>
            </a:r>
            <a:r>
              <a:rPr dirty="0"/>
              <a:t> </a:t>
            </a:r>
            <a:r>
              <a:rPr dirty="0" err="1"/>
              <a:t>sme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GPU RTX 4060 Ti </a:t>
            </a:r>
            <a:r>
              <a:rPr dirty="0" err="1"/>
              <a:t>prebehli</a:t>
            </a:r>
            <a:r>
              <a:rPr dirty="0"/>
              <a:t> </a:t>
            </a:r>
            <a:r>
              <a:rPr dirty="0" err="1"/>
              <a:t>všetkých</a:t>
            </a:r>
            <a:r>
              <a:rPr dirty="0"/>
              <a:t> 216 </a:t>
            </a:r>
            <a:r>
              <a:rPr dirty="0" err="1"/>
              <a:t>experimentov</a:t>
            </a:r>
            <a:r>
              <a:rPr dirty="0"/>
              <a:t> za </a:t>
            </a:r>
            <a:r>
              <a:rPr dirty="0" err="1"/>
              <a:t>zhruba</a:t>
            </a:r>
            <a:r>
              <a:rPr dirty="0"/>
              <a:t> </a:t>
            </a:r>
            <a:r>
              <a:rPr dirty="0" err="1"/>
              <a:t>hodinu</a:t>
            </a:r>
            <a:r>
              <a:rPr dirty="0"/>
              <a:t> a pol, </a:t>
            </a:r>
            <a:r>
              <a:rPr dirty="0" err="1"/>
              <a:t>čo</a:t>
            </a:r>
            <a:r>
              <a:rPr dirty="0"/>
              <a:t> je </a:t>
            </a:r>
            <a:r>
              <a:rPr dirty="0" err="1"/>
              <a:t>zvládnuteľné</a:t>
            </a:r>
            <a:r>
              <a:rPr dirty="0"/>
              <a:t>. </a:t>
            </a:r>
            <a:r>
              <a:rPr dirty="0" err="1"/>
              <a:t>Kľúčom</a:t>
            </a:r>
            <a:r>
              <a:rPr dirty="0"/>
              <a:t> bolo </a:t>
            </a:r>
            <a:r>
              <a:rPr dirty="0" err="1"/>
              <a:t>prednahrať</a:t>
            </a:r>
            <a:r>
              <a:rPr dirty="0"/>
              <a:t> </a:t>
            </a:r>
            <a:r>
              <a:rPr dirty="0" err="1"/>
              <a:t>všetky</a:t>
            </a:r>
            <a:r>
              <a:rPr dirty="0"/>
              <a:t> </a:t>
            </a:r>
            <a:r>
              <a:rPr dirty="0" err="1"/>
              <a:t>obrázky</a:t>
            </a:r>
            <a:r>
              <a:rPr dirty="0"/>
              <a:t> do </a:t>
            </a:r>
            <a:r>
              <a:rPr dirty="0" err="1"/>
              <a:t>operačnej</a:t>
            </a:r>
            <a:r>
              <a:rPr dirty="0"/>
              <a:t> </a:t>
            </a:r>
            <a:r>
              <a:rPr dirty="0" err="1"/>
              <a:t>pamäte</a:t>
            </a:r>
            <a:r>
              <a:rPr dirty="0"/>
              <a:t> pred </a:t>
            </a:r>
            <a:r>
              <a:rPr dirty="0" err="1"/>
              <a:t>spustením</a:t>
            </a:r>
            <a:r>
              <a:rPr dirty="0"/>
              <a:t> — </a:t>
            </a:r>
            <a:r>
              <a:rPr dirty="0" err="1"/>
              <a:t>inak</a:t>
            </a:r>
            <a:r>
              <a:rPr dirty="0"/>
              <a:t> by </a:t>
            </a:r>
            <a:r>
              <a:rPr dirty="0" err="1"/>
              <a:t>bol</a:t>
            </a:r>
            <a:r>
              <a:rPr dirty="0"/>
              <a:t> </a:t>
            </a:r>
            <a:r>
              <a:rPr dirty="0" err="1"/>
              <a:t>tréning</a:t>
            </a:r>
            <a:r>
              <a:rPr dirty="0"/>
              <a:t> </a:t>
            </a:r>
            <a:r>
              <a:rPr dirty="0" err="1"/>
              <a:t>limitovaný</a:t>
            </a:r>
            <a:r>
              <a:rPr dirty="0"/>
              <a:t> </a:t>
            </a:r>
            <a:r>
              <a:rPr dirty="0" err="1"/>
              <a:t>čítaním</a:t>
            </a:r>
            <a:r>
              <a:rPr dirty="0"/>
              <a:t> z </a:t>
            </a:r>
            <a:r>
              <a:rPr dirty="0" err="1"/>
              <a:t>disku</a:t>
            </a:r>
            <a:r>
              <a:rPr dirty="0"/>
              <a:t>.</a:t>
            </a:r>
          </a:p>
        </p:txBody>
      </p:sp>
      <p:sp>
        <p:nvSpPr>
          <p:cNvPr id="107592844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718702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75883595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 dirty="0"/>
              <a:t>[</a:t>
            </a:r>
            <a:r>
              <a:rPr dirty="0" err="1"/>
              <a:t>Filák</a:t>
            </a:r>
            <a:r>
              <a:rPr dirty="0"/>
              <a:t> — 1 min]</a:t>
            </a:r>
          </a:p>
          <a:p>
            <a:pPr>
              <a:defRPr/>
            </a:pPr>
            <a:r>
              <a:rPr dirty="0" err="1"/>
              <a:t>Okrem</a:t>
            </a:r>
            <a:r>
              <a:rPr dirty="0"/>
              <a:t> </a:t>
            </a:r>
            <a:r>
              <a:rPr dirty="0" err="1"/>
              <a:t>hlavného</a:t>
            </a:r>
            <a:r>
              <a:rPr dirty="0"/>
              <a:t> </a:t>
            </a:r>
            <a:r>
              <a:rPr dirty="0" err="1"/>
              <a:t>porovnania</a:t>
            </a:r>
            <a:r>
              <a:rPr dirty="0"/>
              <a:t> </a:t>
            </a:r>
            <a:r>
              <a:rPr dirty="0" err="1"/>
              <a:t>sme</a:t>
            </a:r>
            <a:r>
              <a:rPr dirty="0"/>
              <a:t> </a:t>
            </a:r>
            <a:r>
              <a:rPr dirty="0" err="1"/>
              <a:t>skúmali</a:t>
            </a:r>
            <a:r>
              <a:rPr dirty="0"/>
              <a:t> </a:t>
            </a:r>
            <a:r>
              <a:rPr dirty="0" err="1"/>
              <a:t>aj</a:t>
            </a:r>
            <a:r>
              <a:rPr dirty="0"/>
              <a:t> to, </a:t>
            </a:r>
            <a:r>
              <a:rPr dirty="0" err="1"/>
              <a:t>ako</a:t>
            </a:r>
            <a:r>
              <a:rPr dirty="0"/>
              <a:t> </a:t>
            </a:r>
            <a:r>
              <a:rPr dirty="0" err="1"/>
              <a:t>veľkosť</a:t>
            </a:r>
            <a:r>
              <a:rPr dirty="0"/>
              <a:t> </a:t>
            </a:r>
            <a:r>
              <a:rPr dirty="0" err="1"/>
              <a:t>trénovacej</a:t>
            </a:r>
            <a:r>
              <a:rPr dirty="0"/>
              <a:t> </a:t>
            </a:r>
            <a:r>
              <a:rPr dirty="0" err="1"/>
              <a:t>množiny</a:t>
            </a:r>
            <a:r>
              <a:rPr dirty="0"/>
              <a:t> </a:t>
            </a:r>
            <a:r>
              <a:rPr dirty="0" err="1"/>
              <a:t>ovplyvňuje</a:t>
            </a:r>
            <a:r>
              <a:rPr dirty="0"/>
              <a:t> </a:t>
            </a:r>
            <a:r>
              <a:rPr dirty="0" err="1"/>
              <a:t>výsledky</a:t>
            </a:r>
            <a:r>
              <a:rPr dirty="0"/>
              <a:t>. </a:t>
            </a:r>
            <a:r>
              <a:rPr dirty="0" err="1"/>
              <a:t>Trénovali</a:t>
            </a:r>
            <a:r>
              <a:rPr dirty="0"/>
              <a:t> </a:t>
            </a:r>
            <a:r>
              <a:rPr dirty="0" err="1"/>
              <a:t>sme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25, 50, 75 a 100 </a:t>
            </a:r>
            <a:r>
              <a:rPr dirty="0" err="1"/>
              <a:t>percentách</a:t>
            </a:r>
            <a:r>
              <a:rPr dirty="0"/>
              <a:t> </a:t>
            </a:r>
            <a:r>
              <a:rPr dirty="0" err="1"/>
              <a:t>trénovacích</a:t>
            </a:r>
            <a:r>
              <a:rPr dirty="0"/>
              <a:t> </a:t>
            </a:r>
            <a:r>
              <a:rPr dirty="0" err="1"/>
              <a:t>dát</a:t>
            </a:r>
            <a:r>
              <a:rPr dirty="0"/>
              <a:t> a </a:t>
            </a:r>
            <a:r>
              <a:rPr dirty="0" err="1"/>
              <a:t>merali</a:t>
            </a:r>
            <a:r>
              <a:rPr dirty="0"/>
              <a:t> </a:t>
            </a:r>
            <a:r>
              <a:rPr dirty="0" err="1"/>
              <a:t>výsledné</a:t>
            </a:r>
            <a:r>
              <a:rPr dirty="0"/>
              <a:t> MAE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testovacej</a:t>
            </a:r>
            <a:r>
              <a:rPr dirty="0"/>
              <a:t> </a:t>
            </a:r>
            <a:r>
              <a:rPr dirty="0" err="1"/>
              <a:t>množine</a:t>
            </a:r>
            <a:r>
              <a:rPr dirty="0"/>
              <a:t>.</a:t>
            </a:r>
          </a:p>
          <a:p>
            <a:pPr>
              <a:defRPr/>
            </a:pPr>
            <a:endParaRPr dirty="0"/>
          </a:p>
          <a:p>
            <a:pPr>
              <a:defRPr/>
            </a:pPr>
            <a:r>
              <a:rPr dirty="0"/>
              <a:t>Na </a:t>
            </a:r>
            <a:r>
              <a:rPr dirty="0" err="1"/>
              <a:t>grafe</a:t>
            </a:r>
            <a:r>
              <a:rPr dirty="0"/>
              <a:t> </a:t>
            </a:r>
            <a:r>
              <a:rPr dirty="0" err="1"/>
              <a:t>vidíte</a:t>
            </a:r>
            <a:r>
              <a:rPr dirty="0"/>
              <a:t>, </a:t>
            </a:r>
            <a:r>
              <a:rPr dirty="0" err="1"/>
              <a:t>že</a:t>
            </a:r>
            <a:r>
              <a:rPr dirty="0"/>
              <a:t> </a:t>
            </a:r>
            <a:r>
              <a:rPr dirty="0" err="1"/>
              <a:t>pri</a:t>
            </a:r>
            <a:r>
              <a:rPr dirty="0"/>
              <a:t> 25 </a:t>
            </a:r>
            <a:r>
              <a:rPr dirty="0" err="1"/>
              <a:t>percentách</a:t>
            </a:r>
            <a:r>
              <a:rPr dirty="0"/>
              <a:t> — </a:t>
            </a:r>
            <a:r>
              <a:rPr dirty="0" err="1"/>
              <a:t>čo</a:t>
            </a:r>
            <a:r>
              <a:rPr dirty="0"/>
              <a:t> je </a:t>
            </a:r>
            <a:r>
              <a:rPr dirty="0" err="1"/>
              <a:t>len</a:t>
            </a:r>
            <a:r>
              <a:rPr dirty="0"/>
              <a:t> 175 </a:t>
            </a:r>
            <a:r>
              <a:rPr dirty="0" err="1"/>
              <a:t>obrázkov</a:t>
            </a:r>
            <a:r>
              <a:rPr dirty="0"/>
              <a:t> — </a:t>
            </a:r>
            <a:r>
              <a:rPr dirty="0" err="1"/>
              <a:t>boli</a:t>
            </a:r>
            <a:r>
              <a:rPr dirty="0"/>
              <a:t> </a:t>
            </a:r>
            <a:r>
              <a:rPr dirty="0" err="1"/>
              <a:t>výsledky</a:t>
            </a:r>
            <a:r>
              <a:rPr dirty="0"/>
              <a:t> </a:t>
            </a:r>
            <a:r>
              <a:rPr dirty="0" err="1"/>
              <a:t>výrazne</a:t>
            </a:r>
            <a:r>
              <a:rPr dirty="0"/>
              <a:t> </a:t>
            </a:r>
            <a:r>
              <a:rPr dirty="0" err="1"/>
              <a:t>horšie</a:t>
            </a:r>
            <a:r>
              <a:rPr dirty="0"/>
              <a:t>. R² bolo </a:t>
            </a:r>
            <a:r>
              <a:rPr dirty="0" err="1"/>
              <a:t>záporné</a:t>
            </a:r>
            <a:r>
              <a:rPr dirty="0"/>
              <a:t>, </a:t>
            </a:r>
            <a:r>
              <a:rPr dirty="0" err="1"/>
              <a:t>čo</a:t>
            </a:r>
            <a:r>
              <a:rPr dirty="0"/>
              <a:t> </a:t>
            </a:r>
            <a:r>
              <a:rPr dirty="0" err="1"/>
              <a:t>znamená</a:t>
            </a:r>
            <a:r>
              <a:rPr dirty="0"/>
              <a:t>, </a:t>
            </a:r>
            <a:r>
              <a:rPr dirty="0" err="1"/>
              <a:t>že</a:t>
            </a:r>
            <a:r>
              <a:rPr dirty="0"/>
              <a:t> model </a:t>
            </a:r>
            <a:r>
              <a:rPr dirty="0" err="1"/>
              <a:t>bol</a:t>
            </a:r>
            <a:r>
              <a:rPr dirty="0"/>
              <a:t> </a:t>
            </a:r>
            <a:r>
              <a:rPr dirty="0" err="1"/>
              <a:t>horší</a:t>
            </a:r>
            <a:r>
              <a:rPr dirty="0"/>
              <a:t> </a:t>
            </a:r>
            <a:r>
              <a:rPr dirty="0" err="1"/>
              <a:t>než</a:t>
            </a:r>
            <a:r>
              <a:rPr dirty="0"/>
              <a:t> jednoduchý </a:t>
            </a:r>
            <a:r>
              <a:rPr dirty="0" err="1"/>
              <a:t>priemer</a:t>
            </a:r>
            <a:r>
              <a:rPr dirty="0"/>
              <a:t>. To je </a:t>
            </a:r>
            <a:r>
              <a:rPr dirty="0" err="1"/>
              <a:t>výrazný</a:t>
            </a:r>
            <a:r>
              <a:rPr dirty="0"/>
              <a:t> </a:t>
            </a:r>
            <a:r>
              <a:rPr dirty="0" err="1"/>
              <a:t>signál</a:t>
            </a:r>
            <a:r>
              <a:rPr dirty="0"/>
              <a:t>, </a:t>
            </a:r>
            <a:r>
              <a:rPr dirty="0" err="1"/>
              <a:t>že</a:t>
            </a:r>
            <a:r>
              <a:rPr dirty="0"/>
              <a:t> </a:t>
            </a:r>
            <a:r>
              <a:rPr dirty="0" err="1"/>
              <a:t>dát</a:t>
            </a:r>
            <a:r>
              <a:rPr dirty="0"/>
              <a:t> bolo </a:t>
            </a:r>
            <a:r>
              <a:rPr dirty="0" err="1"/>
              <a:t>jednoducho</a:t>
            </a:r>
            <a:r>
              <a:rPr dirty="0"/>
              <a:t> </a:t>
            </a:r>
            <a:r>
              <a:rPr dirty="0" err="1"/>
              <a:t>málo</a:t>
            </a:r>
            <a:r>
              <a:rPr dirty="0"/>
              <a:t>.</a:t>
            </a:r>
          </a:p>
          <a:p>
            <a:pPr>
              <a:defRPr/>
            </a:pPr>
            <a:endParaRPr dirty="0"/>
          </a:p>
          <a:p>
            <a:pPr>
              <a:defRPr/>
            </a:pPr>
            <a:r>
              <a:rPr dirty="0"/>
              <a:t>Od 50 percent </a:t>
            </a:r>
            <a:r>
              <a:rPr dirty="0" err="1"/>
              <a:t>nahor</a:t>
            </a:r>
            <a:r>
              <a:rPr dirty="0"/>
              <a:t> — </a:t>
            </a:r>
            <a:r>
              <a:rPr dirty="0" err="1"/>
              <a:t>teda</a:t>
            </a:r>
            <a:r>
              <a:rPr dirty="0"/>
              <a:t> od </a:t>
            </a:r>
            <a:r>
              <a:rPr dirty="0" err="1"/>
              <a:t>zhruba</a:t>
            </a:r>
            <a:r>
              <a:rPr dirty="0"/>
              <a:t> 330 </a:t>
            </a:r>
            <a:r>
              <a:rPr dirty="0" err="1"/>
              <a:t>obrázkov</a:t>
            </a:r>
            <a:r>
              <a:rPr dirty="0"/>
              <a:t> —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výsledky</a:t>
            </a:r>
            <a:r>
              <a:rPr dirty="0"/>
              <a:t> </a:t>
            </a:r>
            <a:r>
              <a:rPr dirty="0" err="1"/>
              <a:t>výrazne</a:t>
            </a:r>
            <a:r>
              <a:rPr dirty="0"/>
              <a:t> </a:t>
            </a:r>
            <a:r>
              <a:rPr dirty="0" err="1"/>
              <a:t>zlepšili</a:t>
            </a:r>
            <a:r>
              <a:rPr dirty="0"/>
              <a:t> a od </a:t>
            </a:r>
            <a:r>
              <a:rPr dirty="0" err="1"/>
              <a:t>tohto</a:t>
            </a:r>
            <a:r>
              <a:rPr dirty="0"/>
              <a:t> </a:t>
            </a:r>
            <a:r>
              <a:rPr dirty="0" err="1"/>
              <a:t>bodu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krivka</a:t>
            </a:r>
            <a:r>
              <a:rPr dirty="0"/>
              <a:t> </a:t>
            </a:r>
            <a:r>
              <a:rPr dirty="0" err="1"/>
              <a:t>stabilizovala</a:t>
            </a:r>
            <a:r>
              <a:rPr dirty="0"/>
              <a:t>. </a:t>
            </a:r>
            <a:r>
              <a:rPr dirty="0" err="1"/>
              <a:t>Rozdiel</a:t>
            </a:r>
            <a:r>
              <a:rPr dirty="0"/>
              <a:t> </a:t>
            </a:r>
            <a:r>
              <a:rPr dirty="0" err="1"/>
              <a:t>medzi</a:t>
            </a:r>
            <a:r>
              <a:rPr dirty="0"/>
              <a:t> 75 a 100 </a:t>
            </a:r>
            <a:r>
              <a:rPr dirty="0" err="1"/>
              <a:t>percentami</a:t>
            </a:r>
            <a:r>
              <a:rPr dirty="0"/>
              <a:t> </a:t>
            </a:r>
            <a:r>
              <a:rPr dirty="0" err="1"/>
              <a:t>bol</a:t>
            </a:r>
            <a:r>
              <a:rPr dirty="0"/>
              <a:t> </a:t>
            </a:r>
            <a:r>
              <a:rPr dirty="0" err="1"/>
              <a:t>už</a:t>
            </a:r>
            <a:r>
              <a:rPr dirty="0"/>
              <a:t> </a:t>
            </a:r>
            <a:r>
              <a:rPr dirty="0" err="1"/>
              <a:t>pomerne</a:t>
            </a:r>
            <a:r>
              <a:rPr dirty="0"/>
              <a:t> </a:t>
            </a:r>
            <a:r>
              <a:rPr dirty="0" err="1"/>
              <a:t>malý</a:t>
            </a:r>
            <a:r>
              <a:rPr dirty="0"/>
              <a:t>. To </a:t>
            </a:r>
            <a:r>
              <a:rPr dirty="0" err="1"/>
              <a:t>naznačuje</a:t>
            </a:r>
            <a:r>
              <a:rPr dirty="0"/>
              <a:t>, </a:t>
            </a:r>
            <a:r>
              <a:rPr dirty="0" err="1"/>
              <a:t>že</a:t>
            </a:r>
            <a:r>
              <a:rPr dirty="0"/>
              <a:t> pre transfer learning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tejto</a:t>
            </a:r>
            <a:r>
              <a:rPr dirty="0"/>
              <a:t> </a:t>
            </a:r>
            <a:r>
              <a:rPr dirty="0" err="1"/>
              <a:t>úlohe</a:t>
            </a:r>
            <a:r>
              <a:rPr dirty="0"/>
              <a:t> je </a:t>
            </a:r>
            <a:r>
              <a:rPr dirty="0" err="1"/>
              <a:t>zhruba</a:t>
            </a:r>
            <a:r>
              <a:rPr dirty="0"/>
              <a:t> 300 </a:t>
            </a:r>
            <a:r>
              <a:rPr dirty="0" err="1"/>
              <a:t>až</a:t>
            </a:r>
            <a:r>
              <a:rPr dirty="0"/>
              <a:t> 400 </a:t>
            </a:r>
            <a:r>
              <a:rPr dirty="0" err="1"/>
              <a:t>vzoriek</a:t>
            </a:r>
            <a:r>
              <a:rPr dirty="0"/>
              <a:t> </a:t>
            </a:r>
            <a:r>
              <a:rPr dirty="0" err="1"/>
              <a:t>minimom</a:t>
            </a:r>
            <a:r>
              <a:rPr dirty="0"/>
              <a:t>, aby model </a:t>
            </a:r>
            <a:r>
              <a:rPr dirty="0" err="1"/>
              <a:t>generalizoval</a:t>
            </a:r>
            <a:r>
              <a:rPr dirty="0"/>
              <a:t> </a:t>
            </a:r>
            <a:r>
              <a:rPr dirty="0" err="1"/>
              <a:t>rozumne</a:t>
            </a:r>
            <a:r>
              <a:rPr dirty="0"/>
              <a:t>. S </a:t>
            </a:r>
            <a:r>
              <a:rPr dirty="0" err="1"/>
              <a:t>väčším</a:t>
            </a:r>
            <a:r>
              <a:rPr dirty="0"/>
              <a:t> </a:t>
            </a:r>
            <a:r>
              <a:rPr dirty="0" err="1"/>
              <a:t>datasetom</a:t>
            </a:r>
            <a:r>
              <a:rPr dirty="0"/>
              <a:t> by </a:t>
            </a:r>
            <a:r>
              <a:rPr dirty="0" err="1"/>
              <a:t>sme</a:t>
            </a:r>
            <a:r>
              <a:rPr dirty="0"/>
              <a:t> </a:t>
            </a:r>
            <a:r>
              <a:rPr dirty="0" err="1"/>
              <a:t>určite</a:t>
            </a:r>
            <a:r>
              <a:rPr dirty="0"/>
              <a:t> </a:t>
            </a:r>
            <a:r>
              <a:rPr dirty="0" err="1"/>
              <a:t>dosiahli</a:t>
            </a:r>
            <a:r>
              <a:rPr dirty="0"/>
              <a:t> </a:t>
            </a:r>
            <a:r>
              <a:rPr dirty="0" err="1"/>
              <a:t>lepšie</a:t>
            </a:r>
            <a:r>
              <a:rPr dirty="0"/>
              <a:t> </a:t>
            </a:r>
            <a:r>
              <a:rPr dirty="0" err="1"/>
              <a:t>výsledky</a:t>
            </a:r>
            <a:r>
              <a:rPr dirty="0"/>
              <a:t>.</a:t>
            </a:r>
          </a:p>
        </p:txBody>
      </p:sp>
      <p:sp>
        <p:nvSpPr>
          <p:cNvPr id="450921135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586546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82209163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 dirty="0"/>
              <a:t>[</a:t>
            </a:r>
            <a:r>
              <a:rPr dirty="0" err="1"/>
              <a:t>Filák</a:t>
            </a:r>
            <a:r>
              <a:rPr dirty="0"/>
              <a:t> — 45 s]</a:t>
            </a:r>
          </a:p>
          <a:p>
            <a:pPr>
              <a:defRPr/>
            </a:pPr>
            <a:r>
              <a:rPr dirty="0"/>
              <a:t>Na </a:t>
            </a:r>
            <a:r>
              <a:rPr dirty="0" err="1"/>
              <a:t>záver</a:t>
            </a:r>
            <a:r>
              <a:rPr dirty="0"/>
              <a:t> </a:t>
            </a:r>
            <a:r>
              <a:rPr dirty="0" err="1"/>
              <a:t>teda</a:t>
            </a:r>
            <a:r>
              <a:rPr dirty="0"/>
              <a:t> </a:t>
            </a:r>
            <a:r>
              <a:rPr dirty="0" err="1"/>
              <a:t>zhrniem</a:t>
            </a:r>
            <a:r>
              <a:rPr dirty="0"/>
              <a:t> </a:t>
            </a:r>
            <a:r>
              <a:rPr dirty="0" err="1"/>
              <a:t>hlavné</a:t>
            </a:r>
            <a:r>
              <a:rPr dirty="0"/>
              <a:t> </a:t>
            </a:r>
            <a:r>
              <a:rPr dirty="0" err="1"/>
              <a:t>výstupy</a:t>
            </a:r>
            <a:r>
              <a:rPr dirty="0"/>
              <a:t>. </a:t>
            </a:r>
            <a:r>
              <a:rPr dirty="0" err="1"/>
              <a:t>Rotačná</a:t>
            </a:r>
            <a:r>
              <a:rPr dirty="0"/>
              <a:t> </a:t>
            </a:r>
            <a:r>
              <a:rPr dirty="0" err="1"/>
              <a:t>augmentácia</a:t>
            </a:r>
            <a:r>
              <a:rPr dirty="0"/>
              <a:t> </a:t>
            </a:r>
            <a:r>
              <a:rPr dirty="0" err="1"/>
              <a:t>pri</a:t>
            </a:r>
            <a:r>
              <a:rPr dirty="0"/>
              <a:t> </a:t>
            </a:r>
            <a:r>
              <a:rPr dirty="0" err="1"/>
              <a:t>fotkách</a:t>
            </a:r>
            <a:r>
              <a:rPr dirty="0"/>
              <a:t> </a:t>
            </a:r>
            <a:r>
              <a:rPr dirty="0" err="1"/>
              <a:t>oblohy</a:t>
            </a:r>
            <a:r>
              <a:rPr dirty="0"/>
              <a:t> </a:t>
            </a:r>
            <a:r>
              <a:rPr dirty="0" err="1"/>
              <a:t>nepomáha</a:t>
            </a:r>
            <a:r>
              <a:rPr dirty="0"/>
              <a:t> — a to </a:t>
            </a:r>
            <a:r>
              <a:rPr dirty="0" err="1"/>
              <a:t>nie</a:t>
            </a:r>
            <a:r>
              <a:rPr dirty="0"/>
              <a:t> je </a:t>
            </a:r>
            <a:r>
              <a:rPr dirty="0" err="1"/>
              <a:t>chyba</a:t>
            </a:r>
            <a:r>
              <a:rPr dirty="0"/>
              <a:t> </a:t>
            </a:r>
            <a:r>
              <a:rPr dirty="0" err="1"/>
              <a:t>implementácie</a:t>
            </a:r>
            <a:r>
              <a:rPr dirty="0"/>
              <a:t>, ale </a:t>
            </a:r>
            <a:r>
              <a:rPr dirty="0" err="1"/>
              <a:t>fyzikálna</a:t>
            </a:r>
            <a:r>
              <a:rPr dirty="0"/>
              <a:t> </a:t>
            </a:r>
            <a:r>
              <a:rPr dirty="0" err="1"/>
              <a:t>vlastnosť</a:t>
            </a:r>
            <a:r>
              <a:rPr dirty="0"/>
              <a:t> </a:t>
            </a:r>
            <a:r>
              <a:rPr dirty="0" err="1"/>
              <a:t>dát</a:t>
            </a:r>
            <a:r>
              <a:rPr dirty="0"/>
              <a:t>. </a:t>
            </a:r>
            <a:r>
              <a:rPr dirty="0" err="1"/>
              <a:t>Orientácia</a:t>
            </a:r>
            <a:r>
              <a:rPr dirty="0"/>
              <a:t> </a:t>
            </a:r>
            <a:r>
              <a:rPr dirty="0" err="1"/>
              <a:t>snímky</a:t>
            </a:r>
            <a:r>
              <a:rPr dirty="0"/>
              <a:t> </a:t>
            </a:r>
            <a:r>
              <a:rPr dirty="0" err="1"/>
              <a:t>nesie</a:t>
            </a:r>
            <a:r>
              <a:rPr dirty="0"/>
              <a:t> </a:t>
            </a:r>
            <a:r>
              <a:rPr dirty="0" err="1"/>
              <a:t>informáciu</a:t>
            </a:r>
            <a:r>
              <a:rPr dirty="0"/>
              <a:t>, </a:t>
            </a:r>
            <a:r>
              <a:rPr dirty="0" err="1"/>
              <a:t>ktorú</a:t>
            </a:r>
            <a:r>
              <a:rPr dirty="0"/>
              <a:t> </a:t>
            </a:r>
            <a:r>
              <a:rPr dirty="0" err="1"/>
              <a:t>augmentácia</a:t>
            </a:r>
            <a:r>
              <a:rPr dirty="0"/>
              <a:t> </a:t>
            </a:r>
            <a:r>
              <a:rPr dirty="0" err="1"/>
              <a:t>narúša</a:t>
            </a:r>
            <a:r>
              <a:rPr dirty="0"/>
              <a:t>.</a:t>
            </a:r>
          </a:p>
          <a:p>
            <a:pPr>
              <a:defRPr/>
            </a:pPr>
            <a:endParaRPr dirty="0"/>
          </a:p>
          <a:p>
            <a:pPr>
              <a:defRPr/>
            </a:pPr>
            <a:r>
              <a:rPr dirty="0" err="1"/>
              <a:t>Najlepší</a:t>
            </a:r>
            <a:r>
              <a:rPr dirty="0"/>
              <a:t> </a:t>
            </a:r>
            <a:r>
              <a:rPr dirty="0" err="1"/>
              <a:t>výsledok</a:t>
            </a:r>
            <a:r>
              <a:rPr dirty="0"/>
              <a:t> </a:t>
            </a:r>
            <a:r>
              <a:rPr dirty="0" err="1"/>
              <a:t>dosiahol</a:t>
            </a:r>
            <a:r>
              <a:rPr dirty="0"/>
              <a:t> ResNet18 so </a:t>
            </a:r>
            <a:r>
              <a:rPr dirty="0" err="1"/>
              <a:t>vstupom</a:t>
            </a:r>
            <a:r>
              <a:rPr dirty="0"/>
              <a:t> 128 </a:t>
            </a:r>
            <a:r>
              <a:rPr dirty="0" err="1"/>
              <a:t>pixelov</a:t>
            </a:r>
            <a:r>
              <a:rPr dirty="0"/>
              <a:t> a learning rate 0,001 — bez </a:t>
            </a:r>
            <a:r>
              <a:rPr dirty="0" err="1"/>
              <a:t>augmentácie</a:t>
            </a:r>
            <a:r>
              <a:rPr dirty="0"/>
              <a:t>. MAE bolo </a:t>
            </a:r>
            <a:r>
              <a:rPr dirty="0" err="1"/>
              <a:t>okolo</a:t>
            </a:r>
            <a:r>
              <a:rPr dirty="0"/>
              <a:t> 125 </a:t>
            </a:r>
            <a:r>
              <a:rPr dirty="0" err="1"/>
              <a:t>wattov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meter </a:t>
            </a:r>
            <a:r>
              <a:rPr dirty="0" err="1"/>
              <a:t>štvorcový</a:t>
            </a:r>
            <a:r>
              <a:rPr dirty="0"/>
              <a:t>, R² 0,54. Model </a:t>
            </a:r>
            <a:r>
              <a:rPr dirty="0" err="1"/>
              <a:t>teda</a:t>
            </a:r>
            <a:r>
              <a:rPr dirty="0"/>
              <a:t> </a:t>
            </a:r>
            <a:r>
              <a:rPr dirty="0" err="1"/>
              <a:t>vysvetľuje</a:t>
            </a:r>
            <a:r>
              <a:rPr dirty="0"/>
              <a:t> </a:t>
            </a:r>
            <a:r>
              <a:rPr dirty="0" err="1"/>
              <a:t>zhruba</a:t>
            </a:r>
            <a:r>
              <a:rPr dirty="0"/>
              <a:t> 54 percent variability v </a:t>
            </a:r>
            <a:r>
              <a:rPr dirty="0" err="1"/>
              <a:t>žiarení</a:t>
            </a:r>
            <a:r>
              <a:rPr dirty="0"/>
              <a:t>, </a:t>
            </a:r>
            <a:r>
              <a:rPr dirty="0" err="1"/>
              <a:t>čo</a:t>
            </a:r>
            <a:r>
              <a:rPr dirty="0"/>
              <a:t> je </a:t>
            </a:r>
            <a:r>
              <a:rPr dirty="0" err="1"/>
              <a:t>pri</a:t>
            </a:r>
            <a:r>
              <a:rPr dirty="0"/>
              <a:t> </a:t>
            </a:r>
            <a:r>
              <a:rPr dirty="0" err="1"/>
              <a:t>takto</a:t>
            </a:r>
            <a:r>
              <a:rPr dirty="0"/>
              <a:t> </a:t>
            </a:r>
            <a:r>
              <a:rPr dirty="0" err="1"/>
              <a:t>malom</a:t>
            </a:r>
            <a:r>
              <a:rPr dirty="0"/>
              <a:t> </a:t>
            </a:r>
            <a:r>
              <a:rPr dirty="0" err="1"/>
              <a:t>datasete</a:t>
            </a:r>
            <a:r>
              <a:rPr dirty="0"/>
              <a:t> a </a:t>
            </a:r>
            <a:r>
              <a:rPr dirty="0" err="1"/>
              <a:t>jednoduchom</a:t>
            </a:r>
            <a:r>
              <a:rPr dirty="0"/>
              <a:t> fine-</a:t>
            </a:r>
            <a:r>
              <a:rPr dirty="0" err="1"/>
              <a:t>tuningu</a:t>
            </a:r>
            <a:r>
              <a:rPr dirty="0"/>
              <a:t> </a:t>
            </a:r>
            <a:r>
              <a:rPr dirty="0" err="1"/>
              <a:t>solídny</a:t>
            </a:r>
            <a:r>
              <a:rPr dirty="0"/>
              <a:t> </a:t>
            </a:r>
            <a:r>
              <a:rPr dirty="0" err="1"/>
              <a:t>výsledok</a:t>
            </a:r>
            <a:r>
              <a:rPr dirty="0"/>
              <a:t>. Ale je tam </a:t>
            </a:r>
            <a:r>
              <a:rPr dirty="0" err="1"/>
              <a:t>jasný</a:t>
            </a:r>
            <a:r>
              <a:rPr dirty="0"/>
              <a:t> </a:t>
            </a:r>
            <a:r>
              <a:rPr dirty="0" err="1"/>
              <a:t>priestor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zlepšenie</a:t>
            </a:r>
            <a:r>
              <a:rPr dirty="0"/>
              <a:t> — </a:t>
            </a:r>
            <a:r>
              <a:rPr dirty="0" err="1"/>
              <a:t>viac</a:t>
            </a:r>
            <a:r>
              <a:rPr dirty="0"/>
              <a:t> </a:t>
            </a:r>
            <a:r>
              <a:rPr dirty="0" err="1"/>
              <a:t>dát</a:t>
            </a:r>
            <a:r>
              <a:rPr dirty="0"/>
              <a:t>, </a:t>
            </a:r>
            <a:r>
              <a:rPr dirty="0" err="1"/>
              <a:t>prípadne</a:t>
            </a:r>
            <a:r>
              <a:rPr dirty="0"/>
              <a:t> </a:t>
            </a:r>
            <a:r>
              <a:rPr dirty="0" err="1"/>
              <a:t>temporálne</a:t>
            </a:r>
            <a:r>
              <a:rPr dirty="0"/>
              <a:t> </a:t>
            </a:r>
            <a:r>
              <a:rPr dirty="0" err="1"/>
              <a:t>modelovanie</a:t>
            </a:r>
            <a:r>
              <a:rPr dirty="0"/>
              <a:t> </a:t>
            </a:r>
            <a:r>
              <a:rPr dirty="0" err="1"/>
              <a:t>alebo</a:t>
            </a:r>
            <a:r>
              <a:rPr dirty="0"/>
              <a:t> </a:t>
            </a:r>
            <a:r>
              <a:rPr dirty="0" err="1"/>
              <a:t>iný</a:t>
            </a:r>
            <a:r>
              <a:rPr dirty="0"/>
              <a:t> </a:t>
            </a:r>
            <a:r>
              <a:rPr dirty="0" err="1"/>
              <a:t>typ</a:t>
            </a:r>
            <a:r>
              <a:rPr dirty="0"/>
              <a:t> </a:t>
            </a:r>
            <a:r>
              <a:rPr dirty="0" err="1"/>
              <a:t>augmentácií</a:t>
            </a:r>
            <a:r>
              <a:rPr dirty="0"/>
              <a:t>, </a:t>
            </a:r>
            <a:r>
              <a:rPr dirty="0" err="1"/>
              <a:t>ktoré</a:t>
            </a:r>
            <a:r>
              <a:rPr dirty="0"/>
              <a:t> </a:t>
            </a:r>
            <a:r>
              <a:rPr dirty="0" err="1"/>
              <a:t>rešpektujú</a:t>
            </a:r>
            <a:r>
              <a:rPr dirty="0"/>
              <a:t> </a:t>
            </a:r>
            <a:r>
              <a:rPr dirty="0" err="1"/>
              <a:t>orientáciu</a:t>
            </a:r>
            <a:r>
              <a:rPr dirty="0"/>
              <a:t>.</a:t>
            </a:r>
          </a:p>
          <a:p>
            <a:pPr>
              <a:defRPr/>
            </a:pPr>
            <a:endParaRPr dirty="0"/>
          </a:p>
          <a:p>
            <a:pPr>
              <a:defRPr/>
            </a:pPr>
            <a:r>
              <a:rPr dirty="0" err="1"/>
              <a:t>Ďakujeme</a:t>
            </a:r>
            <a:r>
              <a:rPr dirty="0"/>
              <a:t> za </a:t>
            </a:r>
            <a:r>
              <a:rPr dirty="0" err="1"/>
              <a:t>pozornosť</a:t>
            </a:r>
            <a:r>
              <a:rPr dirty="0"/>
              <a:t>, </a:t>
            </a:r>
            <a:r>
              <a:rPr dirty="0" err="1"/>
              <a:t>radi</a:t>
            </a:r>
            <a:r>
              <a:rPr dirty="0"/>
              <a:t> </a:t>
            </a:r>
            <a:r>
              <a:rPr dirty="0" err="1"/>
              <a:t>zodpovieme</a:t>
            </a:r>
            <a:r>
              <a:rPr dirty="0"/>
              <a:t> </a:t>
            </a:r>
            <a:r>
              <a:rPr dirty="0" err="1"/>
              <a:t>otázky</a:t>
            </a:r>
            <a:r>
              <a:rPr dirty="0"/>
              <a:t>.</a:t>
            </a:r>
          </a:p>
        </p:txBody>
      </p:sp>
      <p:sp>
        <p:nvSpPr>
          <p:cNvPr id="42701524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305058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332622096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20378077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11463591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80554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1208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31155214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8016107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11065431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0878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79678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1582616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920954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10286934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37914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0191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67104224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68579184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8856249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11201097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79953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4892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4702065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6016464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08257680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490405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71310474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31481827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575539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9458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01037479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158293560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835934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70355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4976345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72998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611707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03399068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206284197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565178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14883974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462105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352769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8403517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64752396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5388390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2060457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50066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4309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50397760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3465542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8274037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17498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60102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04612792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2905241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966809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1579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99603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5967449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813984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105947826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996766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941539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0053412" name="TextBox 2"/>
          <p:cNvSpPr txBox="1"/>
          <p:nvPr/>
        </p:nvSpPr>
        <p:spPr bwMode="auto">
          <a:xfrm>
            <a:off x="914400" y="16459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600" b="1">
                <a:solidFill>
                  <a:srgbClr val="FFFFFF"/>
                </a:solidFill>
              </a:rPr>
              <a:t>Vplyv rotačných augmentácií</a:t>
            </a:r>
            <a:br>
              <a:rPr sz="3600" b="1">
                <a:solidFill>
                  <a:srgbClr val="FFFFFF"/>
                </a:solidFill>
              </a:rPr>
            </a:br>
            <a:r>
              <a:rPr sz="3600" b="1">
                <a:solidFill>
                  <a:srgbClr val="FFFFFF"/>
                </a:solidFill>
              </a:rPr>
              <a:t>na presnosť odhadu slnečného žiarenia</a:t>
            </a:r>
            <a:endParaRPr/>
          </a:p>
        </p:txBody>
      </p:sp>
      <p:sp>
        <p:nvSpPr>
          <p:cNvPr id="1199120307" name="TextBox 3"/>
          <p:cNvSpPr txBox="1"/>
          <p:nvPr/>
        </p:nvSpPr>
        <p:spPr bwMode="auto"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200" b="0">
                <a:solidFill>
                  <a:srgbClr val="CCCCCC"/>
                </a:solidFill>
              </a:rPr>
              <a:t>Berčík · Hruška · Filák</a:t>
            </a:r>
            <a:endParaRPr/>
          </a:p>
        </p:txBody>
      </p:sp>
      <p:sp>
        <p:nvSpPr>
          <p:cNvPr id="1640504123" name="TextBox 4"/>
          <p:cNvSpPr txBox="1"/>
          <p:nvPr/>
        </p:nvSpPr>
        <p:spPr bwMode="auto"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800" b="0">
                <a:solidFill>
                  <a:srgbClr val="CCCCCC"/>
                </a:solidFill>
              </a:rPr>
              <a:t>MKR 2026</a:t>
            </a:r>
            <a:endParaRPr/>
          </a:p>
        </p:txBody>
      </p:sp>
      <p:sp>
        <p:nvSpPr>
          <p:cNvPr id="1711915327" name="Rectangle 5"/>
          <p:cNvSpPr/>
          <p:nvPr/>
        </p:nvSpPr>
        <p:spPr bwMode="auto">
          <a:xfrm>
            <a:off x="4754880" y="3931920"/>
            <a:ext cx="2651760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679183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7874366" name="Rectangle 2"/>
          <p:cNvSpPr/>
          <p:nvPr/>
        </p:nvSpPr>
        <p:spPr bwMode="auto">
          <a:xfrm>
            <a:off x="0" y="50292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6847991" name="TextBox 3"/>
          <p:cNvSpPr txBox="1"/>
          <p:nvPr/>
        </p:nvSpPr>
        <p:spPr bwMode="auto"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2196F3"/>
                </a:solidFill>
              </a:rPr>
              <a:t>Čo sme riešili</a:t>
            </a:r>
            <a:endParaRPr/>
          </a:p>
        </p:txBody>
      </p:sp>
      <p:sp>
        <p:nvSpPr>
          <p:cNvPr id="1223616849" name="TextBox 4"/>
          <p:cNvSpPr txBox="1"/>
          <p:nvPr/>
        </p:nvSpPr>
        <p:spPr bwMode="auto">
          <a:xfrm>
            <a:off x="548640" y="100584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Vstup: fotografie oblohy z meteorologických staníc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Výstup: hodnota slnečného žiarenia v W/m²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Otázka: pomáha otočiť obrázky počas trénovania?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Porovnanie: 3 siete × 3 veľkosti vstupu × s/bez augmentácie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C001A0-2573-81FA-A58B-5AD6FB0B0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00" y="3025826"/>
            <a:ext cx="3304227" cy="32986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56FFCD-CF97-0738-ABAB-AE4F496CE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405" y="3025826"/>
            <a:ext cx="3298692" cy="32986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FDF530-C3FF-2557-56E7-F298635075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0776" y="3025826"/>
            <a:ext cx="3704014" cy="32986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150995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6562032" name="Rectangle 2"/>
          <p:cNvSpPr/>
          <p:nvPr/>
        </p:nvSpPr>
        <p:spPr bwMode="auto">
          <a:xfrm>
            <a:off x="0" y="50292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0767244" name="TextBox 3"/>
          <p:cNvSpPr txBox="1"/>
          <p:nvPr/>
        </p:nvSpPr>
        <p:spPr bwMode="auto"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2196F3"/>
                </a:solidFill>
              </a:rPr>
              <a:t>Dataset — Eye2Sky</a:t>
            </a:r>
            <a:endParaRPr/>
          </a:p>
        </p:txBody>
      </p:sp>
      <p:sp>
        <p:nvSpPr>
          <p:cNvPr id="614945073" name="TextBox 4"/>
          <p:cNvSpPr txBox="1"/>
          <p:nvPr/>
        </p:nvSpPr>
        <p:spPr bwMode="auto">
          <a:xfrm>
            <a:off x="548640" y="100584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sz="2200" dirty="0">
                <a:solidFill>
                  <a:srgbClr val="FFFFFF"/>
                </a:solidFill>
              </a:rPr>
              <a:t>• </a:t>
            </a:r>
            <a:r>
              <a:rPr sz="2200" dirty="0" err="1">
                <a:solidFill>
                  <a:srgbClr val="FFFFFF"/>
                </a:solidFill>
              </a:rPr>
              <a:t>Fotografie</a:t>
            </a:r>
            <a:r>
              <a:rPr sz="2200" dirty="0">
                <a:solidFill>
                  <a:srgbClr val="FFFFFF"/>
                </a:solidFill>
              </a:rPr>
              <a:t> z 28 </a:t>
            </a:r>
            <a:r>
              <a:rPr sz="2200" dirty="0" err="1">
                <a:solidFill>
                  <a:srgbClr val="FFFFFF"/>
                </a:solidFill>
              </a:rPr>
              <a:t>nemeckých</a:t>
            </a:r>
            <a:r>
              <a:rPr sz="2200" dirty="0">
                <a:solidFill>
                  <a:srgbClr val="FFFFFF"/>
                </a:solidFill>
              </a:rPr>
              <a:t> </a:t>
            </a:r>
            <a:r>
              <a:rPr sz="2200" dirty="0" err="1">
                <a:solidFill>
                  <a:srgbClr val="FFFFFF"/>
                </a:solidFill>
              </a:rPr>
              <a:t>meteorologických</a:t>
            </a:r>
            <a:r>
              <a:rPr sz="2200" dirty="0">
                <a:solidFill>
                  <a:srgbClr val="FFFFFF"/>
                </a:solidFill>
              </a:rPr>
              <a:t> </a:t>
            </a:r>
            <a:r>
              <a:rPr sz="2200" dirty="0" err="1">
                <a:solidFill>
                  <a:srgbClr val="FFFFFF"/>
                </a:solidFill>
              </a:rPr>
              <a:t>staníc</a:t>
            </a:r>
            <a:endParaRPr dirty="0"/>
          </a:p>
          <a:p>
            <a:pPr>
              <a:spcBef>
                <a:spcPts val="600"/>
              </a:spcBef>
              <a:defRPr/>
            </a:pPr>
            <a:r>
              <a:rPr sz="2200" dirty="0">
                <a:solidFill>
                  <a:srgbClr val="FFFFFF"/>
                </a:solidFill>
              </a:rPr>
              <a:t>• 946 </a:t>
            </a:r>
            <a:r>
              <a:rPr sz="2200" dirty="0" err="1">
                <a:solidFill>
                  <a:srgbClr val="FFFFFF"/>
                </a:solidFill>
              </a:rPr>
              <a:t>obrázkov</a:t>
            </a:r>
            <a:r>
              <a:rPr sz="2200" dirty="0">
                <a:solidFill>
                  <a:srgbClr val="FFFFFF"/>
                </a:solidFill>
              </a:rPr>
              <a:t>, </a:t>
            </a:r>
            <a:r>
              <a:rPr sz="2200" dirty="0" err="1">
                <a:solidFill>
                  <a:srgbClr val="FFFFFF"/>
                </a:solidFill>
              </a:rPr>
              <a:t>hodnoty</a:t>
            </a:r>
            <a:r>
              <a:rPr sz="2200" dirty="0">
                <a:solidFill>
                  <a:srgbClr val="FFFFFF"/>
                </a:solidFill>
              </a:rPr>
              <a:t> </a:t>
            </a:r>
            <a:r>
              <a:rPr sz="2200" dirty="0" err="1">
                <a:solidFill>
                  <a:srgbClr val="FFFFFF"/>
                </a:solidFill>
              </a:rPr>
              <a:t>žiarenia</a:t>
            </a:r>
            <a:r>
              <a:rPr sz="2200" dirty="0">
                <a:solidFill>
                  <a:srgbClr val="FFFFFF"/>
                </a:solidFill>
              </a:rPr>
              <a:t> 0,9 – 1119 W/m²</a:t>
            </a:r>
            <a:endParaRPr dirty="0"/>
          </a:p>
          <a:p>
            <a:pPr>
              <a:spcBef>
                <a:spcPts val="600"/>
              </a:spcBef>
              <a:defRPr/>
            </a:pPr>
            <a:r>
              <a:rPr sz="2200" dirty="0">
                <a:solidFill>
                  <a:srgbClr val="FFFFFF"/>
                </a:solidFill>
              </a:rPr>
              <a:t>• </a:t>
            </a:r>
            <a:r>
              <a:rPr sz="2200" dirty="0" err="1">
                <a:solidFill>
                  <a:srgbClr val="FFFFFF"/>
                </a:solidFill>
              </a:rPr>
              <a:t>Meranie</a:t>
            </a:r>
            <a:r>
              <a:rPr sz="2200" dirty="0">
                <a:solidFill>
                  <a:srgbClr val="FFFFFF"/>
                </a:solidFill>
              </a:rPr>
              <a:t>: pyranometer (GHI — global horizontal irradiance)</a:t>
            </a:r>
            <a:endParaRPr dirty="0"/>
          </a:p>
          <a:p>
            <a:pPr>
              <a:spcBef>
                <a:spcPts val="600"/>
              </a:spcBef>
              <a:defRPr/>
            </a:pPr>
            <a:r>
              <a:rPr sz="2200" dirty="0">
                <a:solidFill>
                  <a:srgbClr val="FFFFFF"/>
                </a:solidFill>
              </a:rPr>
              <a:t>• </a:t>
            </a:r>
            <a:r>
              <a:rPr sz="2200" dirty="0" err="1">
                <a:solidFill>
                  <a:srgbClr val="FFFFFF"/>
                </a:solidFill>
              </a:rPr>
              <a:t>Rozdelenie</a:t>
            </a:r>
            <a:r>
              <a:rPr sz="2200" dirty="0">
                <a:solidFill>
                  <a:srgbClr val="FFFFFF"/>
                </a:solidFill>
              </a:rPr>
              <a:t>: 70 % </a:t>
            </a:r>
            <a:r>
              <a:rPr sz="2200" dirty="0" err="1">
                <a:solidFill>
                  <a:srgbClr val="FFFFFF"/>
                </a:solidFill>
              </a:rPr>
              <a:t>tréning</a:t>
            </a:r>
            <a:r>
              <a:rPr sz="2200" dirty="0">
                <a:solidFill>
                  <a:srgbClr val="FFFFFF"/>
                </a:solidFill>
              </a:rPr>
              <a:t> / 15 % </a:t>
            </a:r>
            <a:r>
              <a:rPr sz="2200" dirty="0" err="1">
                <a:solidFill>
                  <a:srgbClr val="FFFFFF"/>
                </a:solidFill>
              </a:rPr>
              <a:t>validácia</a:t>
            </a:r>
            <a:r>
              <a:rPr sz="2200" dirty="0">
                <a:solidFill>
                  <a:srgbClr val="FFFFFF"/>
                </a:solidFill>
              </a:rPr>
              <a:t> / 15 % test</a:t>
            </a:r>
            <a:endParaRPr dirty="0"/>
          </a:p>
          <a:p>
            <a:pPr>
              <a:spcBef>
                <a:spcPts val="600"/>
              </a:spcBef>
              <a:defRPr/>
            </a:pPr>
            <a:r>
              <a:rPr sz="2200" dirty="0">
                <a:solidFill>
                  <a:srgbClr val="FFFFFF"/>
                </a:solidFill>
              </a:rPr>
              <a:t>• </a:t>
            </a:r>
            <a:r>
              <a:rPr sz="2200" dirty="0" err="1">
                <a:solidFill>
                  <a:srgbClr val="FFFFFF"/>
                </a:solidFill>
              </a:rPr>
              <a:t>Poznámka</a:t>
            </a:r>
            <a:r>
              <a:rPr sz="2200" dirty="0">
                <a:solidFill>
                  <a:srgbClr val="FFFFFF"/>
                </a:solidFill>
              </a:rPr>
              <a:t>: </a:t>
            </a:r>
            <a:r>
              <a:rPr sz="2200" dirty="0" err="1">
                <a:solidFill>
                  <a:srgbClr val="FFFFFF"/>
                </a:solidFill>
              </a:rPr>
              <a:t>stanica</a:t>
            </a:r>
            <a:r>
              <a:rPr sz="2200" dirty="0">
                <a:solidFill>
                  <a:srgbClr val="FFFFFF"/>
                </a:solidFill>
              </a:rPr>
              <a:t> OLCLO mala </a:t>
            </a:r>
            <a:r>
              <a:rPr sz="2200" dirty="0" err="1">
                <a:solidFill>
                  <a:srgbClr val="FFFFFF"/>
                </a:solidFill>
              </a:rPr>
              <a:t>chybne</a:t>
            </a:r>
            <a:r>
              <a:rPr sz="2200" dirty="0">
                <a:solidFill>
                  <a:srgbClr val="FFFFFF"/>
                </a:solidFill>
              </a:rPr>
              <a:t> </a:t>
            </a:r>
            <a:r>
              <a:rPr sz="2200" dirty="0" err="1">
                <a:solidFill>
                  <a:srgbClr val="FFFFFF"/>
                </a:solidFill>
              </a:rPr>
              <a:t>priradené</a:t>
            </a:r>
            <a:r>
              <a:rPr sz="2200" dirty="0">
                <a:solidFill>
                  <a:srgbClr val="FFFFFF"/>
                </a:solidFill>
              </a:rPr>
              <a:t> </a:t>
            </a:r>
            <a:r>
              <a:rPr sz="2200" dirty="0" err="1">
                <a:solidFill>
                  <a:srgbClr val="FFFFFF"/>
                </a:solidFill>
              </a:rPr>
              <a:t>hodnoty</a:t>
            </a:r>
            <a:r>
              <a:rPr sz="2200" dirty="0">
                <a:solidFill>
                  <a:srgbClr val="FFFFFF"/>
                </a:solidFill>
              </a:rPr>
              <a:t> → </a:t>
            </a:r>
            <a:r>
              <a:rPr sz="2200" dirty="0" err="1">
                <a:solidFill>
                  <a:srgbClr val="FFFFFF"/>
                </a:solidFill>
              </a:rPr>
              <a:t>vyradená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D2D5B2-8A8B-90E4-9639-1EF1304CE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71" y="3175339"/>
            <a:ext cx="6444343" cy="34083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211080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798043" name="Rectangle 2"/>
          <p:cNvSpPr/>
          <p:nvPr/>
        </p:nvSpPr>
        <p:spPr bwMode="auto">
          <a:xfrm>
            <a:off x="0" y="50292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5247767" name="TextBox 3"/>
          <p:cNvSpPr txBox="1"/>
          <p:nvPr/>
        </p:nvSpPr>
        <p:spPr bwMode="auto"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2196F3"/>
                </a:solidFill>
              </a:rPr>
              <a:t>Metodika</a:t>
            </a:r>
            <a:endParaRPr/>
          </a:p>
        </p:txBody>
      </p:sp>
      <p:sp>
        <p:nvSpPr>
          <p:cNvPr id="460262088" name="TextBox 4"/>
          <p:cNvSpPr txBox="1"/>
          <p:nvPr/>
        </p:nvSpPr>
        <p:spPr bwMode="auto">
          <a:xfrm>
            <a:off x="548640" y="100584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3 predtrénované siete (ImageNet): ResNet18 · EfficientNet-B0 · MobileNetV3-Small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3 veľkosti vstupu: 128 × 128 · 224 × 224 · 320 × 320 px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3 learning rates: 0,001 · 0,0001 · 0,01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Augmentácia: náhodné otáčanie 0° / 90° / 180° / 270°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Každá kombinácia: tréning s augmentáciou vs. bez augmentácie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Fine-tuning: posledná vrstva → 1 neurón (regresia)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Celkovo: 216 experimentov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9EE47C-BEE2-94E1-7DE5-34EE0D71C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857" y="3077936"/>
            <a:ext cx="5475968" cy="3650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134955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5470931" name="Rectangle 2"/>
          <p:cNvSpPr/>
          <p:nvPr/>
        </p:nvSpPr>
        <p:spPr bwMode="auto">
          <a:xfrm>
            <a:off x="0" y="50292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8831588" name="TextBox 3"/>
          <p:cNvSpPr txBox="1"/>
          <p:nvPr/>
        </p:nvSpPr>
        <p:spPr bwMode="auto"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2196F3"/>
                </a:solidFill>
              </a:rPr>
              <a:t>Výsledky: vplyv augmentácie</a:t>
            </a:r>
            <a:endParaRPr/>
          </a:p>
        </p:txBody>
      </p:sp>
      <p:sp>
        <p:nvSpPr>
          <p:cNvPr id="650986629" name="TextBox 4"/>
          <p:cNvSpPr txBox="1"/>
          <p:nvPr/>
        </p:nvSpPr>
        <p:spPr bwMode="auto"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CCCCCC"/>
                </a:solidFill>
              </a:rPr>
              <a:t>Veľkosť vstupu 224 × 224 px</a:t>
            </a:r>
            <a:endParaRPr/>
          </a:p>
        </p:txBody>
      </p:sp>
      <p:pic>
        <p:nvPicPr>
          <p:cNvPr id="671641460" name="Picture 5" descr="aug_comparison_224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74320" y="1005840"/>
            <a:ext cx="12202560" cy="5212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5951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9242219" name="Rectangle 2"/>
          <p:cNvSpPr/>
          <p:nvPr/>
        </p:nvSpPr>
        <p:spPr bwMode="auto">
          <a:xfrm>
            <a:off x="0" y="50292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6581237" name="TextBox 3"/>
          <p:cNvSpPr txBox="1"/>
          <p:nvPr/>
        </p:nvSpPr>
        <p:spPr bwMode="auto"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2196F3"/>
                </a:solidFill>
              </a:rPr>
              <a:t>Výsledky: modely a veľkosť vstupu</a:t>
            </a:r>
            <a:endParaRPr/>
          </a:p>
        </p:txBody>
      </p:sp>
      <p:pic>
        <p:nvPicPr>
          <p:cNvPr id="265105977" name="Picture 4" descr="input_sizes_ma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74320" y="1005840"/>
            <a:ext cx="11576229" cy="4389120"/>
          </a:xfrm>
          <a:prstGeom prst="rect">
            <a:avLst/>
          </a:prstGeom>
        </p:spPr>
      </p:pic>
      <p:sp>
        <p:nvSpPr>
          <p:cNvPr id="205391370" name="TextBox 5"/>
          <p:cNvSpPr txBox="1"/>
          <p:nvPr/>
        </p:nvSpPr>
        <p:spPr bwMode="auto">
          <a:xfrm>
            <a:off x="365760" y="56235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1">
                <a:solidFill>
                  <a:srgbClr val="2196F3"/>
                </a:solidFill>
              </a:rPr>
              <a:t>Najlepšia konfigurácia: ResNet18 · 128 px · bez aug · lr = 0,001  →  MAE 124,93 W/m²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993001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3937525" name="Rectangle 2"/>
          <p:cNvSpPr/>
          <p:nvPr/>
        </p:nvSpPr>
        <p:spPr bwMode="auto">
          <a:xfrm>
            <a:off x="0" y="50292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2736672" name="TextBox 3"/>
          <p:cNvSpPr txBox="1"/>
          <p:nvPr/>
        </p:nvSpPr>
        <p:spPr bwMode="auto"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2196F3"/>
                </a:solidFill>
              </a:rPr>
              <a:t>Výpočtová náročnosť</a:t>
            </a:r>
            <a:endParaRPr/>
          </a:p>
        </p:txBody>
      </p:sp>
      <p:pic>
        <p:nvPicPr>
          <p:cNvPr id="1789413950" name="Picture 4" descr="model_complexity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82879" y="1005839"/>
            <a:ext cx="5247588" cy="3098701"/>
          </a:xfrm>
          <a:prstGeom prst="rect">
            <a:avLst/>
          </a:prstGeom>
        </p:spPr>
      </p:pic>
      <p:pic>
        <p:nvPicPr>
          <p:cNvPr id="911964522" name="Picture 5" descr="training_time_224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30468" y="1005840"/>
            <a:ext cx="6548171" cy="3098701"/>
          </a:xfrm>
          <a:prstGeom prst="rect">
            <a:avLst/>
          </a:prstGeom>
        </p:spPr>
      </p:pic>
      <p:sp>
        <p:nvSpPr>
          <p:cNvPr id="1540294390" name="TextBox 6"/>
          <p:cNvSpPr txBox="1"/>
          <p:nvPr/>
        </p:nvSpPr>
        <p:spPr bwMode="auto"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CCCCCC"/>
                </a:solidFill>
              </a:rPr>
              <a:t>ResNet18: 11,2 M params · ~48 s/exp     EfficientNet-B0: 4,0 M · ~60 s     MobileNetV3-S: 1,5 M · ~29 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517777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3938518" name="Rectangle 2"/>
          <p:cNvSpPr/>
          <p:nvPr/>
        </p:nvSpPr>
        <p:spPr bwMode="auto">
          <a:xfrm>
            <a:off x="0" y="50292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9833931" name="TextBox 3"/>
          <p:cNvSpPr txBox="1"/>
          <p:nvPr/>
        </p:nvSpPr>
        <p:spPr bwMode="auto"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2196F3"/>
                </a:solidFill>
              </a:rPr>
              <a:t>Vplyv počtu trénovacích vzoriek</a:t>
            </a:r>
            <a:endParaRPr/>
          </a:p>
        </p:txBody>
      </p:sp>
      <p:pic>
        <p:nvPicPr>
          <p:cNvPr id="327384568" name="Picture 4" descr="train_size_effec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71600" y="1005840"/>
            <a:ext cx="9177774" cy="502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220764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5078841" name="Rectangle 2"/>
          <p:cNvSpPr/>
          <p:nvPr/>
        </p:nvSpPr>
        <p:spPr bwMode="auto">
          <a:xfrm>
            <a:off x="0" y="50292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2512382" name="TextBox 3"/>
          <p:cNvSpPr txBox="1"/>
          <p:nvPr/>
        </p:nvSpPr>
        <p:spPr bwMode="auto"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2196F3"/>
                </a:solidFill>
              </a:rPr>
              <a:t>Záver</a:t>
            </a:r>
            <a:endParaRPr/>
          </a:p>
        </p:txBody>
      </p:sp>
      <p:sp>
        <p:nvSpPr>
          <p:cNvPr id="1215786173" name="TextBox 4"/>
          <p:cNvSpPr txBox="1"/>
          <p:nvPr/>
        </p:nvSpPr>
        <p:spPr bwMode="auto">
          <a:xfrm>
            <a:off x="548640" y="100584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sz="2100">
                <a:solidFill>
                  <a:srgbClr val="FFFFFF"/>
                </a:solidFill>
              </a:rPr>
              <a:t>• Rotačná augmentácia pri fotkách oblohy nepomáha — orientácia nesie informáciu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100">
                <a:solidFill>
                  <a:srgbClr val="FFFFFF"/>
                </a:solidFill>
              </a:rPr>
              <a:t>• Najlepší model: ResNet18 · 128 px · lr = 0,001  →  MAE ≈ 125 W/m²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100">
                <a:solidFill>
                  <a:srgbClr val="FFFFFF"/>
                </a:solidFill>
              </a:rPr>
              <a:t>• R² = 0,54 — model vysvetľuje 54 % variability žiarenia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100">
                <a:solidFill>
                  <a:srgbClr val="FFFFFF"/>
                </a:solidFill>
              </a:rPr>
              <a:t>• Na rozumné výsledky treba aspoň ~300–400 vzoriek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100">
                <a:solidFill>
                  <a:srgbClr val="FFFFFF"/>
                </a:solidFill>
              </a:rPr>
              <a:t>• Viac dát alebo väčší dataset by výsledky výrazne zlepšil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1569</Words>
  <Application>Microsoft Macintosh PowerPoint</Application>
  <PresentationFormat>Custom</PresentationFormat>
  <Paragraphs>85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Alan Berčík</cp:lastModifiedBy>
  <cp:revision>3</cp:revision>
  <dcterms:created xsi:type="dcterms:W3CDTF">2013-01-27T09:14:16Z</dcterms:created>
  <dcterms:modified xsi:type="dcterms:W3CDTF">2026-05-10T12:17:45Z</dcterms:modified>
  <cp:category/>
</cp:coreProperties>
</file>