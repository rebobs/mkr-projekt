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98"/>
    <p:restoredTop sz="78468"/>
  </p:normalViewPr>
  <p:slideViewPr>
    <p:cSldViewPr snapToGrid="0" snapToObjects="1">
      <p:cViewPr varScale="1">
        <p:scale>
          <a:sx n="96" d="100"/>
          <a:sy n="96" d="100"/>
        </p:scale>
        <p:origin x="176" y="18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528365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18760797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7093007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140556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96651444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61585416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680691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159338926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45248284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770360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27702372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631019233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535751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93984232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03742967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80156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205195900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39253552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275793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56367068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07592844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718702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75883595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50921135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586546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82209163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2701524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305058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332622096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20378077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11463591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80554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1208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31155214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8016107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11065431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0878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79678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1582616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920954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10286934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37914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0191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67104224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68579184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88562490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11201097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799533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4892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4702065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6016464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08257680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490405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71310474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31481827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575539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9458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01037479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158293560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835934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70355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4976345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72998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611707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03399068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206284197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565178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148839742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462105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352769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8403517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64752396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5388390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2060457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50066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4309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50397760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3465542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8274037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17498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60102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04612792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2905241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966809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1579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99603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5967449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813984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5/10/26</a:t>
            </a:fld>
            <a:endParaRPr lang="en-US"/>
          </a:p>
        </p:txBody>
      </p:sp>
      <p:sp>
        <p:nvSpPr>
          <p:cNvPr id="105947826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996766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941539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0053412" name="TextBox 2"/>
          <p:cNvSpPr txBox="1"/>
          <p:nvPr/>
        </p:nvSpPr>
        <p:spPr bwMode="auto">
          <a:xfrm>
            <a:off x="914400" y="164592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600" b="1">
                <a:solidFill>
                  <a:srgbClr val="FFFFFF"/>
                </a:solidFill>
              </a:rPr>
              <a:t>Vplyv rotačných augmentácií</a:t>
            </a:r>
            <a:br>
              <a:rPr sz="3600" b="1">
                <a:solidFill>
                  <a:srgbClr val="FFFFFF"/>
                </a:solidFill>
              </a:rPr>
            </a:br>
            <a:r>
              <a:rPr sz="3600" b="1">
                <a:solidFill>
                  <a:srgbClr val="FFFFFF"/>
                </a:solidFill>
              </a:rPr>
              <a:t>na presnosť odhadu slnečného žiarenia</a:t>
            </a:r>
            <a:endParaRPr/>
          </a:p>
        </p:txBody>
      </p:sp>
      <p:sp>
        <p:nvSpPr>
          <p:cNvPr id="1199120307" name="TextBox 3"/>
          <p:cNvSpPr txBox="1"/>
          <p:nvPr/>
        </p:nvSpPr>
        <p:spPr bwMode="auto"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200" b="0">
                <a:solidFill>
                  <a:srgbClr val="CCCCCC"/>
                </a:solidFill>
              </a:rPr>
              <a:t>Berčík · Hruška · Filák</a:t>
            </a:r>
            <a:endParaRPr/>
          </a:p>
        </p:txBody>
      </p:sp>
      <p:sp>
        <p:nvSpPr>
          <p:cNvPr id="1640504123" name="TextBox 4"/>
          <p:cNvSpPr txBox="1"/>
          <p:nvPr/>
        </p:nvSpPr>
        <p:spPr bwMode="auto"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800" b="0">
                <a:solidFill>
                  <a:srgbClr val="CCCCCC"/>
                </a:solidFill>
              </a:rPr>
              <a:t>MKR 2026</a:t>
            </a:r>
            <a:endParaRPr/>
          </a:p>
        </p:txBody>
      </p:sp>
      <p:sp>
        <p:nvSpPr>
          <p:cNvPr id="1711915327" name="Rectangle 5"/>
          <p:cNvSpPr/>
          <p:nvPr/>
        </p:nvSpPr>
        <p:spPr bwMode="auto">
          <a:xfrm>
            <a:off x="4754880" y="3931920"/>
            <a:ext cx="2651760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679183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7874366" name="Rectangle 2"/>
          <p:cNvSpPr/>
          <p:nvPr/>
        </p:nvSpPr>
        <p:spPr bwMode="auto">
          <a:xfrm>
            <a:off x="0" y="50292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6847991" name="TextBox 3"/>
          <p:cNvSpPr txBox="1"/>
          <p:nvPr/>
        </p:nvSpPr>
        <p:spPr bwMode="auto"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2196F3"/>
                </a:solidFill>
              </a:rPr>
              <a:t>Čo sme riešili</a:t>
            </a:r>
            <a:endParaRPr/>
          </a:p>
        </p:txBody>
      </p:sp>
      <p:sp>
        <p:nvSpPr>
          <p:cNvPr id="1223616849" name="TextBox 4"/>
          <p:cNvSpPr txBox="1"/>
          <p:nvPr/>
        </p:nvSpPr>
        <p:spPr bwMode="auto">
          <a:xfrm>
            <a:off x="548640" y="100584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Vstup: fotografie oblohy z meteorologických staníc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Výstup: hodnota slnečného žiarenia v W/m²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Otázka: pomáha otočiť obrázky počas trénovania?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Porovnanie: 3 siete × 3 veľkosti vstupu × s/bez augmentácie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C001A0-2573-81FA-A58B-5AD6FB0B0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00" y="3025826"/>
            <a:ext cx="3304227" cy="32986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56FFCD-CF97-0738-ABAB-AE4F496CE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405" y="3025826"/>
            <a:ext cx="3298692" cy="32986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FDF530-C3FF-2557-56E7-F298635075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0776" y="3025826"/>
            <a:ext cx="3704014" cy="32986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150995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6562032" name="Rectangle 2"/>
          <p:cNvSpPr/>
          <p:nvPr/>
        </p:nvSpPr>
        <p:spPr bwMode="auto">
          <a:xfrm>
            <a:off x="0" y="50292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0767244" name="TextBox 3"/>
          <p:cNvSpPr txBox="1"/>
          <p:nvPr/>
        </p:nvSpPr>
        <p:spPr bwMode="auto"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2196F3"/>
                </a:solidFill>
              </a:rPr>
              <a:t>Dataset — Eye2Sky</a:t>
            </a:r>
            <a:endParaRPr/>
          </a:p>
        </p:txBody>
      </p:sp>
      <p:sp>
        <p:nvSpPr>
          <p:cNvPr id="614945073" name="TextBox 4"/>
          <p:cNvSpPr txBox="1"/>
          <p:nvPr/>
        </p:nvSpPr>
        <p:spPr bwMode="auto">
          <a:xfrm>
            <a:off x="548640" y="100584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sz="2200" dirty="0">
                <a:solidFill>
                  <a:srgbClr val="FFFFFF"/>
                </a:solidFill>
              </a:rPr>
              <a:t>• </a:t>
            </a:r>
            <a:r>
              <a:rPr sz="2200" dirty="0" err="1">
                <a:solidFill>
                  <a:srgbClr val="FFFFFF"/>
                </a:solidFill>
              </a:rPr>
              <a:t>Fotografie</a:t>
            </a:r>
            <a:r>
              <a:rPr sz="2200" dirty="0">
                <a:solidFill>
                  <a:srgbClr val="FFFFFF"/>
                </a:solidFill>
              </a:rPr>
              <a:t> z 28 </a:t>
            </a:r>
            <a:r>
              <a:rPr sz="2200" dirty="0" err="1">
                <a:solidFill>
                  <a:srgbClr val="FFFFFF"/>
                </a:solidFill>
              </a:rPr>
              <a:t>nemeckých</a:t>
            </a:r>
            <a:r>
              <a:rPr sz="2200" dirty="0">
                <a:solidFill>
                  <a:srgbClr val="FFFFFF"/>
                </a:solidFill>
              </a:rPr>
              <a:t> </a:t>
            </a:r>
            <a:r>
              <a:rPr sz="2200" dirty="0" err="1">
                <a:solidFill>
                  <a:srgbClr val="FFFFFF"/>
                </a:solidFill>
              </a:rPr>
              <a:t>meteorologických</a:t>
            </a:r>
            <a:r>
              <a:rPr sz="2200" dirty="0">
                <a:solidFill>
                  <a:srgbClr val="FFFFFF"/>
                </a:solidFill>
              </a:rPr>
              <a:t> </a:t>
            </a:r>
            <a:r>
              <a:rPr sz="2200" dirty="0" err="1">
                <a:solidFill>
                  <a:srgbClr val="FFFFFF"/>
                </a:solidFill>
              </a:rPr>
              <a:t>staníc</a:t>
            </a:r>
            <a:endParaRPr dirty="0"/>
          </a:p>
          <a:p>
            <a:pPr>
              <a:spcBef>
                <a:spcPts val="600"/>
              </a:spcBef>
              <a:defRPr/>
            </a:pPr>
            <a:r>
              <a:rPr sz="2200" dirty="0">
                <a:solidFill>
                  <a:srgbClr val="FFFFFF"/>
                </a:solidFill>
              </a:rPr>
              <a:t>• 946 </a:t>
            </a:r>
            <a:r>
              <a:rPr sz="2200" dirty="0" err="1">
                <a:solidFill>
                  <a:srgbClr val="FFFFFF"/>
                </a:solidFill>
              </a:rPr>
              <a:t>obrázkov</a:t>
            </a:r>
            <a:r>
              <a:rPr sz="2200" dirty="0">
                <a:solidFill>
                  <a:srgbClr val="FFFFFF"/>
                </a:solidFill>
              </a:rPr>
              <a:t>, </a:t>
            </a:r>
            <a:r>
              <a:rPr sz="2200" dirty="0" err="1">
                <a:solidFill>
                  <a:srgbClr val="FFFFFF"/>
                </a:solidFill>
              </a:rPr>
              <a:t>hodnoty</a:t>
            </a:r>
            <a:r>
              <a:rPr sz="2200" dirty="0">
                <a:solidFill>
                  <a:srgbClr val="FFFFFF"/>
                </a:solidFill>
              </a:rPr>
              <a:t> </a:t>
            </a:r>
            <a:r>
              <a:rPr sz="2200" dirty="0" err="1">
                <a:solidFill>
                  <a:srgbClr val="FFFFFF"/>
                </a:solidFill>
              </a:rPr>
              <a:t>žiarenia</a:t>
            </a:r>
            <a:r>
              <a:rPr sz="2200" dirty="0">
                <a:solidFill>
                  <a:srgbClr val="FFFFFF"/>
                </a:solidFill>
              </a:rPr>
              <a:t> 0,9 – 1119 W/m²</a:t>
            </a:r>
            <a:endParaRPr dirty="0"/>
          </a:p>
          <a:p>
            <a:pPr>
              <a:spcBef>
                <a:spcPts val="600"/>
              </a:spcBef>
              <a:defRPr/>
            </a:pPr>
            <a:r>
              <a:rPr sz="2200" dirty="0">
                <a:solidFill>
                  <a:srgbClr val="FFFFFF"/>
                </a:solidFill>
              </a:rPr>
              <a:t>• </a:t>
            </a:r>
            <a:r>
              <a:rPr sz="2200" dirty="0" err="1">
                <a:solidFill>
                  <a:srgbClr val="FFFFFF"/>
                </a:solidFill>
              </a:rPr>
              <a:t>Meranie</a:t>
            </a:r>
            <a:r>
              <a:rPr sz="2200" dirty="0">
                <a:solidFill>
                  <a:srgbClr val="FFFFFF"/>
                </a:solidFill>
              </a:rPr>
              <a:t>: pyranometer (GHI — global horizontal irradiance)</a:t>
            </a:r>
            <a:endParaRPr dirty="0"/>
          </a:p>
          <a:p>
            <a:pPr>
              <a:spcBef>
                <a:spcPts val="600"/>
              </a:spcBef>
              <a:defRPr/>
            </a:pPr>
            <a:r>
              <a:rPr sz="2200" dirty="0">
                <a:solidFill>
                  <a:srgbClr val="FFFFFF"/>
                </a:solidFill>
              </a:rPr>
              <a:t>• </a:t>
            </a:r>
            <a:r>
              <a:rPr sz="2200" dirty="0" err="1">
                <a:solidFill>
                  <a:srgbClr val="FFFFFF"/>
                </a:solidFill>
              </a:rPr>
              <a:t>Rozdelenie</a:t>
            </a:r>
            <a:r>
              <a:rPr sz="2200" dirty="0">
                <a:solidFill>
                  <a:srgbClr val="FFFFFF"/>
                </a:solidFill>
              </a:rPr>
              <a:t>: 70 % </a:t>
            </a:r>
            <a:r>
              <a:rPr sz="2200" dirty="0" err="1">
                <a:solidFill>
                  <a:srgbClr val="FFFFFF"/>
                </a:solidFill>
              </a:rPr>
              <a:t>tréning</a:t>
            </a:r>
            <a:r>
              <a:rPr sz="2200" dirty="0">
                <a:solidFill>
                  <a:srgbClr val="FFFFFF"/>
                </a:solidFill>
              </a:rPr>
              <a:t> / 15 % </a:t>
            </a:r>
            <a:r>
              <a:rPr sz="2200" dirty="0" err="1">
                <a:solidFill>
                  <a:srgbClr val="FFFFFF"/>
                </a:solidFill>
              </a:rPr>
              <a:t>validácia</a:t>
            </a:r>
            <a:r>
              <a:rPr sz="2200" dirty="0">
                <a:solidFill>
                  <a:srgbClr val="FFFFFF"/>
                </a:solidFill>
              </a:rPr>
              <a:t> / 15 % test</a:t>
            </a:r>
            <a:endParaRPr dirty="0"/>
          </a:p>
          <a:p>
            <a:pPr>
              <a:spcBef>
                <a:spcPts val="600"/>
              </a:spcBef>
              <a:defRPr/>
            </a:pPr>
            <a:r>
              <a:rPr sz="2200" dirty="0">
                <a:solidFill>
                  <a:srgbClr val="FFFFFF"/>
                </a:solidFill>
              </a:rPr>
              <a:t>• </a:t>
            </a:r>
            <a:r>
              <a:rPr sz="2200" dirty="0" err="1">
                <a:solidFill>
                  <a:srgbClr val="FFFFFF"/>
                </a:solidFill>
              </a:rPr>
              <a:t>Poznámka</a:t>
            </a:r>
            <a:r>
              <a:rPr sz="2200" dirty="0">
                <a:solidFill>
                  <a:srgbClr val="FFFFFF"/>
                </a:solidFill>
              </a:rPr>
              <a:t>: </a:t>
            </a:r>
            <a:r>
              <a:rPr sz="2200" dirty="0" err="1">
                <a:solidFill>
                  <a:srgbClr val="FFFFFF"/>
                </a:solidFill>
              </a:rPr>
              <a:t>stanica</a:t>
            </a:r>
            <a:r>
              <a:rPr sz="2200" dirty="0">
                <a:solidFill>
                  <a:srgbClr val="FFFFFF"/>
                </a:solidFill>
              </a:rPr>
              <a:t> OLCLO mala </a:t>
            </a:r>
            <a:r>
              <a:rPr sz="2200" dirty="0" err="1">
                <a:solidFill>
                  <a:srgbClr val="FFFFFF"/>
                </a:solidFill>
              </a:rPr>
              <a:t>chybne</a:t>
            </a:r>
            <a:r>
              <a:rPr sz="2200" dirty="0">
                <a:solidFill>
                  <a:srgbClr val="FFFFFF"/>
                </a:solidFill>
              </a:rPr>
              <a:t> </a:t>
            </a:r>
            <a:r>
              <a:rPr sz="2200" dirty="0" err="1">
                <a:solidFill>
                  <a:srgbClr val="FFFFFF"/>
                </a:solidFill>
              </a:rPr>
              <a:t>priradené</a:t>
            </a:r>
            <a:r>
              <a:rPr sz="2200" dirty="0">
                <a:solidFill>
                  <a:srgbClr val="FFFFFF"/>
                </a:solidFill>
              </a:rPr>
              <a:t> </a:t>
            </a:r>
            <a:r>
              <a:rPr sz="2200" dirty="0" err="1">
                <a:solidFill>
                  <a:srgbClr val="FFFFFF"/>
                </a:solidFill>
              </a:rPr>
              <a:t>hodnoty</a:t>
            </a:r>
            <a:r>
              <a:rPr sz="2200" dirty="0">
                <a:solidFill>
                  <a:srgbClr val="FFFFFF"/>
                </a:solidFill>
              </a:rPr>
              <a:t> → </a:t>
            </a:r>
            <a:r>
              <a:rPr sz="2200" dirty="0" err="1">
                <a:solidFill>
                  <a:srgbClr val="FFFFFF"/>
                </a:solidFill>
              </a:rPr>
              <a:t>vyradená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D2D5B2-8A8B-90E4-9639-1EF1304CE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71" y="3175339"/>
            <a:ext cx="6444343" cy="34083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211080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798043" name="Rectangle 2"/>
          <p:cNvSpPr/>
          <p:nvPr/>
        </p:nvSpPr>
        <p:spPr bwMode="auto">
          <a:xfrm>
            <a:off x="0" y="50292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5247767" name="TextBox 3"/>
          <p:cNvSpPr txBox="1"/>
          <p:nvPr/>
        </p:nvSpPr>
        <p:spPr bwMode="auto"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2196F3"/>
                </a:solidFill>
              </a:rPr>
              <a:t>Metodika</a:t>
            </a:r>
            <a:endParaRPr/>
          </a:p>
        </p:txBody>
      </p:sp>
      <p:sp>
        <p:nvSpPr>
          <p:cNvPr id="460262088" name="TextBox 4"/>
          <p:cNvSpPr txBox="1"/>
          <p:nvPr/>
        </p:nvSpPr>
        <p:spPr bwMode="auto">
          <a:xfrm>
            <a:off x="548640" y="100584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3 predtrénované siete (ImageNet): ResNet18 · EfficientNet-B0 · MobileNetV3-Small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3 veľkosti vstupu: 128 × 128 · 224 × 224 · 320 × 320 px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3 learning rates: 0,001 · 0,0001 · 0,01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Augmentácia: náhodné otáčanie 0° / 90° / 180° / 270°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Každá kombinácia: tréning s augmentáciou vs. bez augmentácie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Fine-tuning: posledná vrstva → 1 neurón (regresia)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200">
                <a:solidFill>
                  <a:srgbClr val="FFFFFF"/>
                </a:solidFill>
              </a:rPr>
              <a:t>• Celkovo: 216 experimentov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9EE47C-BEE2-94E1-7DE5-34EE0D71C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857" y="3077936"/>
            <a:ext cx="5475968" cy="3650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134955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5470931" name="Rectangle 2"/>
          <p:cNvSpPr/>
          <p:nvPr/>
        </p:nvSpPr>
        <p:spPr bwMode="auto">
          <a:xfrm>
            <a:off x="0" y="50292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8831588" name="TextBox 3"/>
          <p:cNvSpPr txBox="1"/>
          <p:nvPr/>
        </p:nvSpPr>
        <p:spPr bwMode="auto"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2196F3"/>
                </a:solidFill>
              </a:rPr>
              <a:t>Výsledky: vplyv augmentácie</a:t>
            </a:r>
            <a:endParaRPr/>
          </a:p>
        </p:txBody>
      </p:sp>
      <p:sp>
        <p:nvSpPr>
          <p:cNvPr id="650986629" name="TextBox 4"/>
          <p:cNvSpPr txBox="1"/>
          <p:nvPr/>
        </p:nvSpPr>
        <p:spPr bwMode="auto"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CCCCCC"/>
                </a:solidFill>
              </a:rPr>
              <a:t>Veľkosť vstupu 224 × 224 px</a:t>
            </a:r>
            <a:endParaRPr/>
          </a:p>
        </p:txBody>
      </p:sp>
      <p:pic>
        <p:nvPicPr>
          <p:cNvPr id="671641460" name="Picture 5" descr="aug_comparison_224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74320" y="1005840"/>
            <a:ext cx="12202560" cy="5212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5951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9242219" name="Rectangle 2"/>
          <p:cNvSpPr/>
          <p:nvPr/>
        </p:nvSpPr>
        <p:spPr bwMode="auto">
          <a:xfrm>
            <a:off x="0" y="50292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6581237" name="TextBox 3"/>
          <p:cNvSpPr txBox="1"/>
          <p:nvPr/>
        </p:nvSpPr>
        <p:spPr bwMode="auto"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2196F3"/>
                </a:solidFill>
              </a:rPr>
              <a:t>Výsledky: modely a veľkosť vstupu</a:t>
            </a:r>
            <a:endParaRPr/>
          </a:p>
        </p:txBody>
      </p:sp>
      <p:pic>
        <p:nvPicPr>
          <p:cNvPr id="265105977" name="Picture 4" descr="input_sizes_ma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74320" y="1005840"/>
            <a:ext cx="11576229" cy="4389120"/>
          </a:xfrm>
          <a:prstGeom prst="rect">
            <a:avLst/>
          </a:prstGeom>
        </p:spPr>
      </p:pic>
      <p:sp>
        <p:nvSpPr>
          <p:cNvPr id="205391370" name="TextBox 5"/>
          <p:cNvSpPr txBox="1"/>
          <p:nvPr/>
        </p:nvSpPr>
        <p:spPr bwMode="auto">
          <a:xfrm>
            <a:off x="365760" y="56235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1">
                <a:solidFill>
                  <a:srgbClr val="2196F3"/>
                </a:solidFill>
              </a:rPr>
              <a:t>Najlepšia konfigurácia: ResNet18 · 128 px · bez aug · lr = 0,001  →  MAE 124,93 W/m²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993001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3937525" name="Rectangle 2"/>
          <p:cNvSpPr/>
          <p:nvPr/>
        </p:nvSpPr>
        <p:spPr bwMode="auto">
          <a:xfrm>
            <a:off x="0" y="50292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2736672" name="TextBox 3"/>
          <p:cNvSpPr txBox="1"/>
          <p:nvPr/>
        </p:nvSpPr>
        <p:spPr bwMode="auto"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2196F3"/>
                </a:solidFill>
              </a:rPr>
              <a:t>Výpočtová náročnosť</a:t>
            </a:r>
            <a:endParaRPr/>
          </a:p>
        </p:txBody>
      </p:sp>
      <p:pic>
        <p:nvPicPr>
          <p:cNvPr id="1789413950" name="Picture 4" descr="model_complexity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82879" y="1005839"/>
            <a:ext cx="5247588" cy="3098701"/>
          </a:xfrm>
          <a:prstGeom prst="rect">
            <a:avLst/>
          </a:prstGeom>
        </p:spPr>
      </p:pic>
      <p:pic>
        <p:nvPicPr>
          <p:cNvPr id="911964522" name="Picture 5" descr="training_time_224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30468" y="1005840"/>
            <a:ext cx="6548171" cy="3098701"/>
          </a:xfrm>
          <a:prstGeom prst="rect">
            <a:avLst/>
          </a:prstGeom>
        </p:spPr>
      </p:pic>
      <p:sp>
        <p:nvSpPr>
          <p:cNvPr id="1540294390" name="TextBox 6"/>
          <p:cNvSpPr txBox="1"/>
          <p:nvPr/>
        </p:nvSpPr>
        <p:spPr bwMode="auto"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CCCCCC"/>
                </a:solidFill>
              </a:rPr>
              <a:t>ResNet18: 11,2 M params · ~48 s/exp     EfficientNet-B0: 4,0 M · ~60 s     MobileNetV3-S: 1,5 M · ~29 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5517777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3938518" name="Rectangle 2"/>
          <p:cNvSpPr/>
          <p:nvPr/>
        </p:nvSpPr>
        <p:spPr bwMode="auto">
          <a:xfrm>
            <a:off x="0" y="50292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9833931" name="TextBox 3"/>
          <p:cNvSpPr txBox="1"/>
          <p:nvPr/>
        </p:nvSpPr>
        <p:spPr bwMode="auto"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2196F3"/>
                </a:solidFill>
              </a:rPr>
              <a:t>Vplyv počtu trénovacích vzoriek</a:t>
            </a:r>
            <a:endParaRPr/>
          </a:p>
        </p:txBody>
      </p:sp>
      <p:pic>
        <p:nvPicPr>
          <p:cNvPr id="327384568" name="Picture 4" descr="train_size_effec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71600" y="1005840"/>
            <a:ext cx="9177774" cy="502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220764" name="Rectangle 1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5078841" name="Rectangle 2"/>
          <p:cNvSpPr/>
          <p:nvPr/>
        </p:nvSpPr>
        <p:spPr bwMode="auto">
          <a:xfrm>
            <a:off x="0" y="50292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2512382" name="TextBox 3"/>
          <p:cNvSpPr txBox="1"/>
          <p:nvPr/>
        </p:nvSpPr>
        <p:spPr bwMode="auto"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2196F3"/>
                </a:solidFill>
              </a:rPr>
              <a:t>Záver</a:t>
            </a:r>
            <a:endParaRPr/>
          </a:p>
        </p:txBody>
      </p:sp>
      <p:sp>
        <p:nvSpPr>
          <p:cNvPr id="1215786173" name="TextBox 4"/>
          <p:cNvSpPr txBox="1"/>
          <p:nvPr/>
        </p:nvSpPr>
        <p:spPr bwMode="auto">
          <a:xfrm>
            <a:off x="548640" y="100584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sz="2100">
                <a:solidFill>
                  <a:srgbClr val="FFFFFF"/>
                </a:solidFill>
              </a:rPr>
              <a:t>• Rotačná augmentácia pri fotkách oblohy nepomáha — orientácia nesie informáciu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100">
                <a:solidFill>
                  <a:srgbClr val="FFFFFF"/>
                </a:solidFill>
              </a:rPr>
              <a:t>• Najlepší model: ResNet18 · 128 px · lr = 0,001  →  MAE ≈ 125 W/m²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100">
                <a:solidFill>
                  <a:srgbClr val="FFFFFF"/>
                </a:solidFill>
              </a:rPr>
              <a:t>• R² = 0,54 — model vysvetľuje 54 % variability žiarenia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100">
                <a:solidFill>
                  <a:srgbClr val="FFFFFF"/>
                </a:solidFill>
              </a:rPr>
              <a:t>• Na rozumné výsledky treba aspoň ~300–400 vzoriek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2100">
                <a:solidFill>
                  <a:srgbClr val="FFFFFF"/>
                </a:solidFill>
              </a:rPr>
              <a:t>• Viac dát alebo väčší dataset by výsledky výrazne zlepšil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331</Words>
  <Application>Microsoft Macintosh PowerPoint</Application>
  <PresentationFormat>Custom</PresentationFormat>
  <Paragraphs>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Alan Berčík</cp:lastModifiedBy>
  <cp:revision>4</cp:revision>
  <dcterms:created xsi:type="dcterms:W3CDTF">2013-01-27T09:14:16Z</dcterms:created>
  <dcterms:modified xsi:type="dcterms:W3CDTF">2026-05-10T12:21:11Z</dcterms:modified>
  <cp:category/>
</cp:coreProperties>
</file>